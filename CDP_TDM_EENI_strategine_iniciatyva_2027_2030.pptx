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 prezentacija yra ne apie dar vieną techninį projektą. Ji yra apie tai, ar po EENĮ organizacija ir toliau mokės už tą patį duomenų parengimą kiekviename projekte, ar sąmoningai kurs reusable pagrindą.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Labai svarbu sąmoningai nepervertinti situacijos: EENĮ jau sukūrė vertę, bet TDM dar negalima laikyti pilnai suformuotu reusable organizaciniu asset’u.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 yra kertinė loginė skaidrė. Pirmi post-EENĮ produktai turi startuoti ne nuo naujų sistemų, o nuo to, ką jau turime ar galime greitai papildyti.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 skaidrė pataiso svarbų lūkestį: reuse duoda didelį efektą, bet jis nereiškia, kad sekantis produktas kainuos simboliškai.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 yra pagrindinė „proof“ skaidrė: TDM vertė atsiskleidžia ne teorijoje, o per konkretų use case, kur reuse leidžia išvengti dalies discovery, DQ, governance ir business learning kaštų.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Svarbu: scenarijų biudžetai čia jau yra papildoma investicija po EENĮ, todėl jie logiškai dera su EENĮ benchmarku.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 skaidrė yra kertinė. Būtent čia parodyta, kad TDM vertė yra ne vien „pigiau užkoduoti“. Didelė naudos dalis atsiranda iš to, kad duomenys tampa pažįstami, stabilūs ir mažiau ginčytini.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 svarbiausia finansinė skaidrė. Ji rodo, kad ekonomiškai silpniausias pasirinkimas yra ne tęsti reusable modelį, o grįžti į projektinį fragmentavimą.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 skaidrė skirta parodyti, kad rekomendacija remiasi ne vien skaičiais, bet ir organizaciniu realumu.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 paskutinė skaidrė turi palikti aiškų pasirinkimą: ne „dar padiskutuokime“, o „kokį variantą finansuojame“.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CDP Tinklo duomenų modelio plėtra po EENĮ: ar tęsti reusable pagrindo kūrimą, ar toliau spręsti poreikius projektiniu būdu</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1</a:t>
            </a:r>
          </a:p>
        </p:txBody>
      </p:sp>
      <p:sp>
        <p:nvSpPr>
          <p:cNvPr id="6" name="Rounded Rectangle 5"/>
          <p:cNvSpPr/>
          <p:nvPr/>
        </p:nvSpPr>
        <p:spPr>
          <a:xfrm>
            <a:off x="411480" y="960120"/>
            <a:ext cx="5806440" cy="438912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15568"/>
            <a:ext cx="5486400" cy="4114800"/>
          </a:xfrm>
          <a:prstGeom prst="rect">
            <a:avLst/>
          </a:prstGeom>
          <a:noFill/>
        </p:spPr>
        <p:txBody>
          <a:bodyPr wrap="none">
            <a:spAutoFit/>
          </a:bodyPr>
          <a:lstStyle/>
          <a:p>
            <a:pPr>
              <a:defRPr sz="1300" b="0">
                <a:solidFill>
                  <a:srgbClr val="212529"/>
                </a:solidFill>
              </a:defRPr>
            </a:pPr>
            <a:r>
              <a:t>Tikslas</a:t>
            </a:r>
          </a:p>
          <a:p>
            <a:pPr>
              <a:defRPr sz="1300" b="0">
                <a:solidFill>
                  <a:srgbClr val="212529"/>
                </a:solidFill>
              </a:defRPr>
            </a:pPr>
            <a:r>
              <a:t>Įvertinti, ar verta po EENĮ toliau vystyti CDP Tinklo duomenų modelį (TDM) kaip reusable duomenų pagrindą, leidžiantį naujus tinklo sprendimus kurti greičiau, pigiau ir su mažesne duomenų rizika.</a:t>
            </a:r>
          </a:p>
          <a:p>
            <a:pPr>
              <a:defRPr sz="1300" b="0">
                <a:solidFill>
                  <a:srgbClr val="212529"/>
                </a:solidFill>
              </a:defRPr>
            </a:pPr>
          </a:p>
          <a:p>
            <a:pPr>
              <a:defRPr sz="1300" b="0">
                <a:solidFill>
                  <a:srgbClr val="212529"/>
                </a:solidFill>
              </a:defRPr>
            </a:pPr>
            <a:r>
              <a:t>Sprendžiama problema</a:t>
            </a:r>
          </a:p>
          <a:p>
            <a:pPr>
              <a:defRPr sz="1300" b="0">
                <a:solidFill>
                  <a:srgbClr val="212529"/>
                </a:solidFill>
              </a:defRPr>
            </a:pPr>
            <a:r>
              <a:t>Turime tik dalinį bronze pasidengimą</a:t>
            </a:r>
          </a:p>
          <a:p>
            <a:pPr>
              <a:defRPr sz="1300" b="0">
                <a:solidFill>
                  <a:srgbClr val="212529"/>
                </a:solidFill>
              </a:defRPr>
            </a:pPr>
            <a:r>
              <a:t>Reusable silver 2 sluoksnis tik pradėtas formuoti</a:t>
            </a:r>
          </a:p>
          <a:p>
            <a:pPr>
              <a:defRPr sz="1300" b="0">
                <a:solidFill>
                  <a:srgbClr val="212529"/>
                </a:solidFill>
              </a:defRPr>
            </a:pPr>
            <a:r>
              <a:t>Kiekvienas naujas poreikis rizikuoja būti daromas su nauju source analysis, ID suvienodinimu, DQ/reconciliation ir įsigilinimo ciklu</a:t>
            </a:r>
          </a:p>
          <a:p>
            <a:pPr>
              <a:defRPr sz="1300" b="0">
                <a:solidFill>
                  <a:srgbClr val="212529"/>
                </a:solidFill>
              </a:defRPr>
            </a:pPr>
          </a:p>
          <a:p>
            <a:pPr>
              <a:defRPr sz="1300" b="0">
                <a:solidFill>
                  <a:srgbClr val="212529"/>
                </a:solidFill>
              </a:defRPr>
            </a:pPr>
            <a:r>
              <a:t>Esminis klausimas</a:t>
            </a:r>
          </a:p>
          <a:p>
            <a:pPr>
              <a:defRPr sz="1300" b="0">
                <a:solidFill>
                  <a:srgbClr val="212529"/>
                </a:solidFill>
              </a:defRPr>
            </a:pPr>
            <a:r>
              <a:t>Ar EENĮ paliekame kaip pavienį naudą duodantį produktą, ar naudojame jį kaip įrodymą ir atspirties tašką reusable TDM plėtrai?</a:t>
            </a:r>
          </a:p>
        </p:txBody>
      </p:sp>
      <p:sp>
        <p:nvSpPr>
          <p:cNvPr id="8" name="Rounded Rectangle 7"/>
          <p:cNvSpPr/>
          <p:nvPr/>
        </p:nvSpPr>
        <p:spPr>
          <a:xfrm>
            <a:off x="6629400" y="1188720"/>
            <a:ext cx="1325880" cy="91440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B54"/>
                </a:solidFill>
              </a:defRPr>
            </a:pPr>
            <a:r>
              <a:t>Šaltiniai</a:t>
            </a:r>
          </a:p>
        </p:txBody>
      </p:sp>
      <p:sp>
        <p:nvSpPr>
          <p:cNvPr id="9" name="Chevron 8"/>
          <p:cNvSpPr/>
          <p:nvPr/>
        </p:nvSpPr>
        <p:spPr>
          <a:xfrm>
            <a:off x="8001000" y="1490472"/>
            <a:ext cx="219456" cy="32004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75320" y="1188720"/>
            <a:ext cx="1325880" cy="91440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B54"/>
                </a:solidFill>
              </a:defRPr>
            </a:pPr>
            <a:r>
              <a:t>Bronze</a:t>
            </a:r>
          </a:p>
        </p:txBody>
      </p:sp>
      <p:sp>
        <p:nvSpPr>
          <p:cNvPr id="11" name="Chevron 10"/>
          <p:cNvSpPr/>
          <p:nvPr/>
        </p:nvSpPr>
        <p:spPr>
          <a:xfrm>
            <a:off x="9646920" y="1490472"/>
            <a:ext cx="219456" cy="32004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21240" y="1188720"/>
            <a:ext cx="1325880" cy="91440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B54"/>
                </a:solidFill>
              </a:defRPr>
            </a:pPr>
            <a:r>
              <a:t>Silver</a:t>
            </a:r>
            <a:br/>
            <a:r>
              <a:t>reusable</a:t>
            </a:r>
            <a:br/>
            <a:r>
              <a:t>TDM</a:t>
            </a:r>
          </a:p>
        </p:txBody>
      </p:sp>
      <p:sp>
        <p:nvSpPr>
          <p:cNvPr id="13" name="Chevron 12"/>
          <p:cNvSpPr/>
          <p:nvPr/>
        </p:nvSpPr>
        <p:spPr>
          <a:xfrm>
            <a:off x="11292840" y="1490472"/>
            <a:ext cx="219456" cy="32004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567159" y="1188720"/>
            <a:ext cx="1325880" cy="91440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B2B54"/>
                </a:solidFill>
              </a:defRPr>
            </a:pPr>
            <a:r>
              <a:t>Gold</a:t>
            </a:r>
            <a:br/>
            <a:r>
              <a:t>produktai</a:t>
            </a:r>
          </a:p>
        </p:txBody>
      </p:sp>
      <p:sp>
        <p:nvSpPr>
          <p:cNvPr id="15" name="Rounded Rectangle 14"/>
          <p:cNvSpPr/>
          <p:nvPr/>
        </p:nvSpPr>
        <p:spPr>
          <a:xfrm>
            <a:off x="6583680" y="2468880"/>
            <a:ext cx="5212080" cy="288036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2697480"/>
            <a:ext cx="4800600" cy="2560320"/>
          </a:xfrm>
          <a:prstGeom prst="rect">
            <a:avLst/>
          </a:prstGeom>
          <a:noFill/>
        </p:spPr>
        <p:txBody>
          <a:bodyPr wrap="none">
            <a:spAutoFit/>
          </a:bodyPr>
          <a:lstStyle/>
          <a:p>
            <a:pPr>
              <a:defRPr sz="1200" b="0">
                <a:solidFill>
                  <a:srgbClr val="212529"/>
                </a:solidFill>
              </a:defRPr>
            </a:pPr>
            <a:r>
              <a:t>Kodėl ši tema strateginė</a:t>
            </a:r>
          </a:p>
          <a:p>
            <a:pPr>
              <a:defRPr sz="1200" b="0">
                <a:solidFill>
                  <a:srgbClr val="212529"/>
                </a:solidFill>
              </a:defRPr>
            </a:pPr>
            <a:r>
              <a:t>Reuse leidžia nebekartoti to paties duomenų paruošimo kiekviename projekte</a:t>
            </a:r>
          </a:p>
          <a:p>
            <a:pPr>
              <a:defRPr sz="1200" b="0">
                <a:solidFill>
                  <a:srgbClr val="212529"/>
                </a:solidFill>
              </a:defRPr>
            </a:pPr>
            <a:r>
              <a:t>Mažėja time-to-value naujiems tinklo sprendimams</a:t>
            </a:r>
          </a:p>
          <a:p>
            <a:pPr>
              <a:defRPr sz="1200" b="0">
                <a:solidFill>
                  <a:srgbClr val="212529"/>
                </a:solidFill>
              </a:defRPr>
            </a:pPr>
            <a:r>
              <a:t>Mažėja duomenų interpretavimo ir kokybės rizika</a:t>
            </a:r>
          </a:p>
          <a:p>
            <a:pPr>
              <a:defRPr sz="1200" b="0">
                <a:solidFill>
                  <a:srgbClr val="212529"/>
                </a:solidFill>
              </a:defRPr>
            </a:pPr>
            <a:r>
              <a:t>Formuojamas organizacinis asset'as, o ne vienkartinis sprendimas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Turime pirmus duomenų asset’us, bet reusable TDM dar nėra suformuotas kaip organizacinis asset’as</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2</a:t>
            </a:r>
          </a:p>
        </p:txBody>
      </p:sp>
      <p:sp>
        <p:nvSpPr>
          <p:cNvPr id="6" name="Rounded Rectangle 5"/>
          <p:cNvSpPr/>
          <p:nvPr/>
        </p:nvSpPr>
        <p:spPr>
          <a:xfrm>
            <a:off x="411480" y="960120"/>
            <a:ext cx="5212080" cy="516636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097280"/>
            <a:ext cx="4754880" cy="274320"/>
          </a:xfrm>
          <a:prstGeom prst="rect">
            <a:avLst/>
          </a:prstGeom>
          <a:noFill/>
        </p:spPr>
        <p:txBody>
          <a:bodyPr wrap="none">
            <a:spAutoFit/>
          </a:bodyPr>
          <a:lstStyle/>
          <a:p>
            <a:pPr>
              <a:defRPr sz="1500" b="1">
                <a:solidFill>
                  <a:srgbClr val="0B2B54"/>
                </a:solidFill>
              </a:defRPr>
            </a:pPr>
            <a:r>
              <a:t>Dabartinis CDP pasidengimas</a:t>
            </a:r>
          </a:p>
        </p:txBody>
      </p:sp>
      <p:graphicFrame>
        <p:nvGraphicFramePr>
          <p:cNvPr id="8" name="Table 7"/>
          <p:cNvGraphicFramePr>
            <a:graphicFrameLocks noGrp="1"/>
          </p:cNvGraphicFramePr>
          <p:nvPr/>
        </p:nvGraphicFramePr>
        <p:xfrm>
          <a:off x="621792" y="1417320"/>
          <a:ext cx="4709160" cy="2011680"/>
        </p:xfrm>
        <a:graphic>
          <a:graphicData uri="http://schemas.openxmlformats.org/drawingml/2006/table">
            <a:tbl>
              <a:tblPr firstRow="1" bandRow="1">
                <a:tableStyleId>{5C22544A-7EE6-4342-B048-85BDC9FD1C3A}</a:tableStyleId>
              </a:tblPr>
              <a:tblGrid>
                <a:gridCol w="2354580"/>
                <a:gridCol w="2354580"/>
              </a:tblGrid>
              <a:tr h="402336">
                <a:tc>
                  <a:txBody>
                    <a:bodyPr wrap="square"/>
                    <a:lstStyle/>
                    <a:p>
                      <a:pPr>
                        <a:defRPr sz="1200" b="1">
                          <a:solidFill>
                            <a:srgbClr val="FFFFFF"/>
                          </a:solidFill>
                        </a:defRPr>
                      </a:pPr>
                      <a:r>
                        <a:t>Sistema</a:t>
                      </a:r>
                    </a:p>
                  </a:txBody>
                  <a:tcPr>
                    <a:solidFill>
                      <a:srgbClr val="0B2B54"/>
                    </a:solidFill>
                  </a:tcPr>
                </a:tc>
                <a:tc>
                  <a:txBody>
                    <a:bodyPr wrap="square"/>
                    <a:lstStyle/>
                    <a:p>
                      <a:pPr>
                        <a:defRPr sz="1200" b="1">
                          <a:solidFill>
                            <a:srgbClr val="FFFFFF"/>
                          </a:solidFill>
                        </a:defRPr>
                      </a:pPr>
                      <a:r>
                        <a:t>Pasidengimas</a:t>
                      </a:r>
                    </a:p>
                  </a:txBody>
                  <a:tcPr>
                    <a:solidFill>
                      <a:srgbClr val="0B2B54"/>
                    </a:solidFill>
                  </a:tcPr>
                </a:tc>
              </a:tr>
              <a:tr h="402336">
                <a:tc>
                  <a:txBody>
                    <a:bodyPr wrap="square"/>
                    <a:lstStyle/>
                    <a:p>
                      <a:pPr>
                        <a:defRPr sz="1200">
                          <a:solidFill>
                            <a:srgbClr val="212529"/>
                          </a:solidFill>
                        </a:defRPr>
                      </a:pPr>
                      <a:r>
                        <a:t>TEVIS</a:t>
                      </a:r>
                    </a:p>
                  </a:txBody>
                  <a:tcPr>
                    <a:solidFill>
                      <a:srgbClr val="FFFFFF"/>
                    </a:solidFill>
                  </a:tcPr>
                </a:tc>
                <a:tc>
                  <a:txBody>
                    <a:bodyPr wrap="square"/>
                    <a:lstStyle/>
                    <a:p>
                      <a:pPr>
                        <a:defRPr sz="1200">
                          <a:solidFill>
                            <a:srgbClr val="212529"/>
                          </a:solidFill>
                        </a:defRPr>
                      </a:pPr>
                      <a:r>
                        <a:t>58 / 287 lentų (~20%)</a:t>
                      </a:r>
                    </a:p>
                  </a:txBody>
                  <a:tcPr>
                    <a:solidFill>
                      <a:srgbClr val="FFFFFF"/>
                    </a:solidFill>
                  </a:tcPr>
                </a:tc>
              </a:tr>
              <a:tr h="402336">
                <a:tc>
                  <a:txBody>
                    <a:bodyPr wrap="square"/>
                    <a:lstStyle/>
                    <a:p>
                      <a:pPr>
                        <a:defRPr sz="1200">
                          <a:solidFill>
                            <a:srgbClr val="212529"/>
                          </a:solidFill>
                        </a:defRPr>
                      </a:pPr>
                      <a:r>
                        <a:t>Billing</a:t>
                      </a:r>
                    </a:p>
                  </a:txBody>
                  <a:tcPr>
                    <a:solidFill>
                      <a:srgbClr val="F8FBFF"/>
                    </a:solidFill>
                  </a:tcPr>
                </a:tc>
                <a:tc>
                  <a:txBody>
                    <a:bodyPr wrap="square"/>
                    <a:lstStyle/>
                    <a:p>
                      <a:pPr>
                        <a:defRPr sz="1200">
                          <a:solidFill>
                            <a:srgbClr val="212529"/>
                          </a:solidFill>
                        </a:defRPr>
                      </a:pPr>
                      <a:r>
                        <a:t>25 / 90 lentų (~28%)</a:t>
                      </a:r>
                    </a:p>
                  </a:txBody>
                  <a:tcPr>
                    <a:solidFill>
                      <a:srgbClr val="F8FBFF"/>
                    </a:solidFill>
                  </a:tcPr>
                </a:tc>
              </a:tr>
              <a:tr h="402336">
                <a:tc>
                  <a:txBody>
                    <a:bodyPr wrap="square"/>
                    <a:lstStyle/>
                    <a:p>
                      <a:pPr>
                        <a:defRPr sz="1200">
                          <a:solidFill>
                            <a:srgbClr val="212529"/>
                          </a:solidFill>
                        </a:defRPr>
                      </a:pPr>
                      <a:r>
                        <a:t>GIS (elektra)</a:t>
                      </a:r>
                    </a:p>
                  </a:txBody>
                  <a:tcPr>
                    <a:solidFill>
                      <a:srgbClr val="FFFFFF"/>
                    </a:solidFill>
                  </a:tcPr>
                </a:tc>
                <a:tc>
                  <a:txBody>
                    <a:bodyPr wrap="square"/>
                    <a:lstStyle/>
                    <a:p>
                      <a:pPr>
                        <a:defRPr sz="1200">
                          <a:solidFill>
                            <a:srgbClr val="212529"/>
                          </a:solidFill>
                        </a:defRPr>
                      </a:pPr>
                      <a:r>
                        <a:t>5 / 27 lentų (~19%)</a:t>
                      </a:r>
                    </a:p>
                  </a:txBody>
                  <a:tcPr>
                    <a:solidFill>
                      <a:srgbClr val="FFFFFF"/>
                    </a:solidFill>
                  </a:tcPr>
                </a:tc>
              </a:tr>
              <a:tr h="402336">
                <a:tc>
                  <a:txBody>
                    <a:bodyPr wrap="square"/>
                    <a:lstStyle/>
                    <a:p>
                      <a:pPr>
                        <a:defRPr sz="1200">
                          <a:solidFill>
                            <a:srgbClr val="212529"/>
                          </a:solidFill>
                        </a:defRPr>
                      </a:pPr>
                      <a:r>
                        <a:t>Iš viso</a:t>
                      </a:r>
                    </a:p>
                  </a:txBody>
                  <a:tcPr>
                    <a:solidFill>
                      <a:srgbClr val="F8FBFF"/>
                    </a:solidFill>
                  </a:tcPr>
                </a:tc>
                <a:tc>
                  <a:txBody>
                    <a:bodyPr wrap="square"/>
                    <a:lstStyle/>
                    <a:p>
                      <a:pPr>
                        <a:defRPr sz="1200">
                          <a:solidFill>
                            <a:srgbClr val="212529"/>
                          </a:solidFill>
                        </a:defRPr>
                      </a:pPr>
                      <a:r>
                        <a:t>88 / 404 lentų (~22%)</a:t>
                      </a:r>
                    </a:p>
                  </a:txBody>
                  <a:tcPr>
                    <a:solidFill>
                      <a:srgbClr val="F8FBFF"/>
                    </a:solidFill>
                  </a:tcPr>
                </a:tc>
              </a:tr>
            </a:tbl>
          </a:graphicData>
        </a:graphic>
      </p:graphicFrame>
      <p:sp>
        <p:nvSpPr>
          <p:cNvPr id="9" name="TextBox 8"/>
          <p:cNvSpPr txBox="1"/>
          <p:nvPr/>
        </p:nvSpPr>
        <p:spPr>
          <a:xfrm>
            <a:off x="621792" y="3611880"/>
            <a:ext cx="4754880" cy="2240280"/>
          </a:xfrm>
          <a:prstGeom prst="rect">
            <a:avLst/>
          </a:prstGeom>
          <a:noFill/>
        </p:spPr>
        <p:txBody>
          <a:bodyPr wrap="none">
            <a:spAutoFit/>
          </a:bodyPr>
          <a:lstStyle/>
          <a:p>
            <a:pPr>
              <a:defRPr sz="1200" b="0">
                <a:solidFill>
                  <a:srgbClr val="212529"/>
                </a:solidFill>
              </a:defRPr>
            </a:pPr>
            <a:r>
              <a:t>Ką jau davė EENĮ</a:t>
            </a:r>
          </a:p>
          <a:p>
            <a:pPr>
              <a:defRPr sz="1200" b="0">
                <a:solidFill>
                  <a:srgbClr val="212529"/>
                </a:solidFill>
              </a:defRPr>
            </a:pPr>
            <a:r>
              <a:t>Tinklo objektai / topologija</a:t>
            </a:r>
          </a:p>
          <a:p>
            <a:pPr>
              <a:defRPr sz="1200" b="0">
                <a:solidFill>
                  <a:srgbClr val="212529"/>
                </a:solidFill>
              </a:defRPr>
            </a:pPr>
            <a:r>
              <a:t>Transformatorių / feederių agregatai</a:t>
            </a:r>
          </a:p>
          <a:p>
            <a:pPr>
              <a:defRPr sz="1200" b="0">
                <a:solidFill>
                  <a:srgbClr val="212529"/>
                </a:solidFill>
              </a:defRPr>
            </a:pPr>
            <a:r>
              <a:t>Apskaitos taškai ir rodmenys</a:t>
            </a:r>
          </a:p>
          <a:p>
            <a:pPr>
              <a:defRPr sz="1200" b="0">
                <a:solidFill>
                  <a:srgbClr val="212529"/>
                </a:solidFill>
              </a:defRPr>
            </a:pPr>
            <a:r>
              <a:t>Tracing rezultatai</a:t>
            </a:r>
          </a:p>
          <a:p>
            <a:pPr>
              <a:defRPr sz="1200" b="0">
                <a:solidFill>
                  <a:srgbClr val="212529"/>
                </a:solidFill>
              </a:defRPr>
            </a:pPr>
            <a:r>
              <a:t>Referenciniai duomenys</a:t>
            </a:r>
          </a:p>
          <a:p>
            <a:pPr>
              <a:defRPr sz="1200" b="0">
                <a:solidFill>
                  <a:srgbClr val="212529"/>
                </a:solidFill>
              </a:defRPr>
            </a:pPr>
          </a:p>
          <a:p>
            <a:pPr>
              <a:defRPr sz="1200" b="0">
                <a:solidFill>
                  <a:srgbClr val="212529"/>
                </a:solidFill>
              </a:defRPr>
            </a:pPr>
            <a:r>
              <a:t>Esminė išvada</a:t>
            </a:r>
          </a:p>
          <a:p>
            <a:pPr>
              <a:defRPr sz="1200" b="0">
                <a:solidFill>
                  <a:srgbClr val="212529"/>
                </a:solidFill>
              </a:defRPr>
            </a:pPr>
            <a:r>
              <a:t>EENĮ rodo, kad reuse vertė reali, bet dar nepadengia pilno TDM scope’o.</a:t>
            </a:r>
          </a:p>
        </p:txBody>
      </p:sp>
      <p:sp>
        <p:nvSpPr>
          <p:cNvPr id="10" name="Rounded Rectangle 9"/>
          <p:cNvSpPr/>
          <p:nvPr/>
        </p:nvSpPr>
        <p:spPr>
          <a:xfrm>
            <a:off x="5852160" y="960120"/>
            <a:ext cx="5897880" cy="5166360"/>
          </a:xfrm>
          <a:prstGeom prst="roundRect">
            <a:avLst/>
          </a:prstGeom>
          <a:solidFill>
            <a:srgbClr val="ECF7FA"/>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097280"/>
            <a:ext cx="5486400" cy="320040"/>
          </a:xfrm>
          <a:prstGeom prst="rect">
            <a:avLst/>
          </a:prstGeom>
          <a:noFill/>
        </p:spPr>
        <p:txBody>
          <a:bodyPr wrap="none">
            <a:spAutoFit/>
          </a:bodyPr>
          <a:lstStyle/>
          <a:p>
            <a:pPr>
              <a:defRPr sz="1500" b="1">
                <a:solidFill>
                  <a:srgbClr val="0B2B54"/>
                </a:solidFill>
              </a:defRPr>
            </a:pPr>
            <a:r>
              <a:t>Ko trūksta pilnesniam tinklo reuse</a:t>
            </a:r>
          </a:p>
        </p:txBody>
      </p:sp>
      <p:sp>
        <p:nvSpPr>
          <p:cNvPr id="12" name="TextBox 11"/>
          <p:cNvSpPr txBox="1"/>
          <p:nvPr/>
        </p:nvSpPr>
        <p:spPr>
          <a:xfrm>
            <a:off x="6080760" y="1463040"/>
            <a:ext cx="5486400" cy="2560320"/>
          </a:xfrm>
          <a:prstGeom prst="rect">
            <a:avLst/>
          </a:prstGeom>
          <a:noFill/>
        </p:spPr>
        <p:txBody>
          <a:bodyPr wrap="none">
            <a:spAutoFit/>
          </a:bodyPr>
          <a:lstStyle/>
          <a:p>
            <a:pPr>
              <a:defRPr sz="1300" b="0">
                <a:solidFill>
                  <a:srgbClr val="212529"/>
                </a:solidFill>
              </a:defRPr>
            </a:pPr>
            <a:r>
              <a:t>DMS</a:t>
            </a:r>
          </a:p>
          <a:p>
            <a:pPr>
              <a:defRPr sz="1300" b="0">
                <a:solidFill>
                  <a:srgbClr val="212529"/>
                </a:solidFill>
              </a:defRPr>
            </a:pPr>
            <a:r>
              <a:t>Maximo / AM</a:t>
            </a:r>
          </a:p>
          <a:p>
            <a:pPr>
              <a:defRPr sz="1300" b="0">
                <a:solidFill>
                  <a:srgbClr val="212529"/>
                </a:solidFill>
              </a:defRPr>
            </a:pPr>
            <a:r>
              <a:t>OM</a:t>
            </a:r>
          </a:p>
          <a:p>
            <a:pPr>
              <a:defRPr sz="1300" b="0">
                <a:solidFill>
                  <a:srgbClr val="212529"/>
                </a:solidFill>
              </a:defRPr>
            </a:pPr>
            <a:r>
              <a:t>NVP</a:t>
            </a:r>
          </a:p>
          <a:p>
            <a:pPr>
              <a:defRPr sz="1300" b="0">
                <a:solidFill>
                  <a:srgbClr val="212529"/>
                </a:solidFill>
              </a:defRPr>
            </a:pPr>
            <a:r>
              <a:t>TIVIS</a:t>
            </a:r>
          </a:p>
          <a:p>
            <a:pPr>
              <a:defRPr sz="1300" b="0">
                <a:solidFill>
                  <a:srgbClr val="212529"/>
                </a:solidFill>
              </a:defRPr>
            </a:pPr>
            <a:r>
              <a:t>Pilnesnės TEVIS / GIS / Billing apimties</a:t>
            </a:r>
          </a:p>
          <a:p>
            <a:pPr>
              <a:defRPr sz="1300" b="0">
                <a:solidFill>
                  <a:srgbClr val="212529"/>
                </a:solidFill>
              </a:defRPr>
            </a:pPr>
            <a:r>
              <a:t>Reusable silver 2 rinkinių</a:t>
            </a:r>
          </a:p>
          <a:p>
            <a:pPr>
              <a:defRPr sz="1300" b="0">
                <a:solidFill>
                  <a:srgbClr val="212529"/>
                </a:solidFill>
              </a:defRPr>
            </a:pPr>
            <a:r>
              <a:t>Data Governance ir DQ disciplinos</a:t>
            </a:r>
          </a:p>
        </p:txBody>
      </p:sp>
      <p:sp>
        <p:nvSpPr>
          <p:cNvPr id="13" name="Rounded Rectangle 12"/>
          <p:cNvSpPr/>
          <p:nvPr/>
        </p:nvSpPr>
        <p:spPr>
          <a:xfrm>
            <a:off x="6080760" y="4160520"/>
            <a:ext cx="5440680" cy="150876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370832"/>
            <a:ext cx="5029200" cy="1097280"/>
          </a:xfrm>
          <a:prstGeom prst="rect">
            <a:avLst/>
          </a:prstGeom>
          <a:noFill/>
        </p:spPr>
        <p:txBody>
          <a:bodyPr wrap="none">
            <a:spAutoFit/>
          </a:bodyPr>
          <a:lstStyle/>
          <a:p>
            <a:pPr>
              <a:defRPr sz="1200" b="0">
                <a:solidFill>
                  <a:srgbClr val="212529"/>
                </a:solidFill>
              </a:defRPr>
            </a:pPr>
            <a:r>
              <a:t>Kodėl dabar</a:t>
            </a:r>
          </a:p>
          <a:p>
            <a:pPr>
              <a:defRPr sz="1200" b="0">
                <a:solidFill>
                  <a:srgbClr val="212529"/>
                </a:solidFill>
              </a:defRPr>
            </a:pPr>
            <a:r>
              <a:t>Jei reusable TDM nebus kryptingai tęsiamas po EENĮ, organizacija grįš į fragmentuotą projektinį modelį su didesniais pakartotiniais kaštais.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Teisinga plėtros seka: pirma išnaudoti EENĮ reusable lentas, tada papildyti trūkstamas lentas iš jau prijungtų sistemų, tada kurti naują produktą</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3</a:t>
            </a:r>
          </a:p>
        </p:txBody>
      </p:sp>
      <p:sp>
        <p:nvSpPr>
          <p:cNvPr id="6" name="Rounded Rectangle 5"/>
          <p:cNvSpPr/>
          <p:nvPr/>
        </p:nvSpPr>
        <p:spPr>
          <a:xfrm>
            <a:off x="411480" y="960120"/>
            <a:ext cx="11384280" cy="269748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34440"/>
            <a:ext cx="2606040" cy="214884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B2B54"/>
                </a:solidFill>
              </a:defRPr>
            </a:pPr>
            <a:r>
              <a:t>1. Išnaudoti EENĮ reusable lentas</a:t>
            </a:r>
          </a:p>
          <a:p>
            <a:pPr>
              <a:defRPr sz="1000">
                <a:solidFill>
                  <a:srgbClr val="212529"/>
                </a:solidFill>
              </a:defRPr>
            </a:pPr>
            <a:r>
              <a:t>tinklo objektai, topologija, feederiai, transformatoriai, apskaitos taškai, tracing, referenciniai duomenys</a:t>
            </a:r>
          </a:p>
        </p:txBody>
      </p:sp>
      <p:sp>
        <p:nvSpPr>
          <p:cNvPr id="8" name="Chevron 7"/>
          <p:cNvSpPr/>
          <p:nvPr/>
        </p:nvSpPr>
        <p:spPr>
          <a:xfrm>
            <a:off x="3383280" y="1993392"/>
            <a:ext cx="164592" cy="41148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234440"/>
            <a:ext cx="2606040" cy="214884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B2B54"/>
                </a:solidFill>
              </a:defRPr>
            </a:pPr>
            <a:r>
              <a:t>2. Papildyti trūkstamas bronze lentas</a:t>
            </a:r>
          </a:p>
          <a:p>
            <a:pPr>
              <a:defRPr sz="1000">
                <a:solidFill>
                  <a:srgbClr val="212529"/>
                </a:solidFill>
              </a:defRPr>
            </a:pPr>
            <a:r>
              <a:t>TEVIS, GIS, Billing sistemų lentos, kurių trūksta artimam use case</a:t>
            </a:r>
          </a:p>
        </p:txBody>
      </p:sp>
      <p:sp>
        <p:nvSpPr>
          <p:cNvPr id="10" name="Chevron 9"/>
          <p:cNvSpPr/>
          <p:nvPr/>
        </p:nvSpPr>
        <p:spPr>
          <a:xfrm>
            <a:off x="6217920" y="1993392"/>
            <a:ext cx="164592" cy="41148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234440"/>
            <a:ext cx="2606040" cy="214884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B2B54"/>
                </a:solidFill>
              </a:defRPr>
            </a:pPr>
            <a:r>
              <a:t>3. Papildyti reusable silver 2</a:t>
            </a:r>
          </a:p>
          <a:p>
            <a:pPr>
              <a:defRPr sz="1000">
                <a:solidFill>
                  <a:srgbClr val="212529"/>
                </a:solidFill>
              </a:defRPr>
            </a:pPr>
            <a:r>
              <a:t>kliento/paslaugos/sutarties ryšiai, lokacijos semantika, techniniai atributai, DQ taisyklės/glossary/ownership</a:t>
            </a:r>
          </a:p>
        </p:txBody>
      </p:sp>
      <p:sp>
        <p:nvSpPr>
          <p:cNvPr id="12" name="Chevron 11"/>
          <p:cNvSpPr/>
          <p:nvPr/>
        </p:nvSpPr>
        <p:spPr>
          <a:xfrm>
            <a:off x="9052560" y="1993392"/>
            <a:ext cx="164592" cy="411480"/>
          </a:xfrm>
          <a:prstGeom prst="chevron">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235440" y="1234440"/>
            <a:ext cx="2606040" cy="214884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B2B54"/>
                </a:solidFill>
              </a:defRPr>
            </a:pPr>
            <a:r>
              <a:t>4. Tik tada statyti naują gold produktą</a:t>
            </a:r>
          </a:p>
          <a:p>
            <a:pPr>
              <a:defRPr sz="1000">
                <a:solidFill>
                  <a:srgbClr val="212529"/>
                </a:solidFill>
              </a:defRPr>
            </a:pPr>
            <a:r>
              <a:t>mažesnis dubliavimas ir greitesnis time-to-value</a:t>
            </a:r>
          </a:p>
        </p:txBody>
      </p:sp>
      <p:sp>
        <p:nvSpPr>
          <p:cNvPr id="14" name="Rounded Rectangle 13"/>
          <p:cNvSpPr/>
          <p:nvPr/>
        </p:nvSpPr>
        <p:spPr>
          <a:xfrm>
            <a:off x="411480" y="3840480"/>
            <a:ext cx="5577840" cy="224028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69080"/>
            <a:ext cx="5120640" cy="1920240"/>
          </a:xfrm>
          <a:prstGeom prst="rect">
            <a:avLst/>
          </a:prstGeom>
          <a:noFill/>
        </p:spPr>
        <p:txBody>
          <a:bodyPr wrap="none">
            <a:spAutoFit/>
          </a:bodyPr>
          <a:lstStyle/>
          <a:p>
            <a:pPr>
              <a:defRPr sz="1200" b="0">
                <a:solidFill>
                  <a:srgbClr val="212529"/>
                </a:solidFill>
              </a:defRPr>
            </a:pPr>
            <a:r>
              <a:t>Kodėl tai ekonomiškai teisinga</a:t>
            </a:r>
          </a:p>
          <a:p>
            <a:pPr>
              <a:defRPr sz="1200" b="0">
                <a:solidFill>
                  <a:srgbClr val="212529"/>
                </a:solidFill>
              </a:defRPr>
            </a:pPr>
            <a:r>
              <a:t>Mažiausias dubliavimas</a:t>
            </a:r>
          </a:p>
          <a:p>
            <a:pPr>
              <a:defRPr sz="1200" b="0">
                <a:solidFill>
                  <a:srgbClr val="212529"/>
                </a:solidFill>
              </a:defRPr>
            </a:pPr>
            <a:r>
              <a:t>Mažiausias naujo discovery poreikis</a:t>
            </a:r>
          </a:p>
          <a:p>
            <a:pPr>
              <a:defRPr sz="1200" b="0">
                <a:solidFill>
                  <a:srgbClr val="212529"/>
                </a:solidFill>
              </a:defRPr>
            </a:pPr>
            <a:r>
              <a:t>Greičiausias time-to-value</a:t>
            </a:r>
          </a:p>
          <a:p>
            <a:pPr>
              <a:defRPr sz="1200" b="0">
                <a:solidFill>
                  <a:srgbClr val="212529"/>
                </a:solidFill>
              </a:defRPr>
            </a:pPr>
            <a:r>
              <a:t>Mažesnė klaidų ir neteisingos interpretacijos rizika</a:t>
            </a:r>
          </a:p>
          <a:p>
            <a:pPr>
              <a:defRPr sz="1200" b="0">
                <a:solidFill>
                  <a:srgbClr val="212529"/>
                </a:solidFill>
              </a:defRPr>
            </a:pPr>
            <a:r>
              <a:t>Lygiagrečiai gerėja data governance ir duomenų pažinimas</a:t>
            </a:r>
          </a:p>
        </p:txBody>
      </p:sp>
      <p:sp>
        <p:nvSpPr>
          <p:cNvPr id="16" name="Rounded Rectangle 15"/>
          <p:cNvSpPr/>
          <p:nvPr/>
        </p:nvSpPr>
        <p:spPr>
          <a:xfrm>
            <a:off x="6172200" y="3840480"/>
            <a:ext cx="5623560" cy="2240280"/>
          </a:xfrm>
          <a:prstGeom prst="roundRect">
            <a:avLst/>
          </a:prstGeom>
          <a:solidFill>
            <a:srgbClr val="FFFFFF"/>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133087"/>
            <a:ext cx="5257800" cy="1737360"/>
          </a:xfrm>
          <a:prstGeom prst="rect">
            <a:avLst/>
          </a:prstGeom>
          <a:noFill/>
        </p:spPr>
        <p:txBody>
          <a:bodyPr wrap="none">
            <a:spAutoFit/>
          </a:bodyPr>
          <a:lstStyle/>
          <a:p>
            <a:pPr>
              <a:defRPr sz="1200" b="0">
                <a:solidFill>
                  <a:srgbClr val="212529"/>
                </a:solidFill>
              </a:defRPr>
            </a:pPr>
            <a:r>
              <a:t>Bangų principas</a:t>
            </a:r>
          </a:p>
          <a:p>
            <a:pPr>
              <a:defRPr sz="1200" b="0">
                <a:solidFill>
                  <a:srgbClr val="212529"/>
                </a:solidFill>
              </a:defRPr>
            </a:pPr>
            <a:r>
              <a:t>EENĮ reusable lentos  →  papildomos bronze lentos  →  silver 2 papildymas  →  pirmas naujas produktas</a:t>
            </a:r>
          </a:p>
          <a:p>
            <a:pPr>
              <a:defRPr sz="1200" b="0">
                <a:solidFill>
                  <a:srgbClr val="212529"/>
                </a:solidFill>
              </a:defRPr>
            </a:pPr>
          </a:p>
          <a:p>
            <a:pPr>
              <a:defRPr sz="1200" b="0">
                <a:solidFill>
                  <a:srgbClr val="212529"/>
                </a:solidFill>
              </a:defRPr>
            </a:pPr>
            <a:r>
              <a:t>Pirmi post-EENĮ produktai turi startuoti ne nuo naujų sistemų, o nuo to, ką jau turime arba galime greitai papildyti.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EENĮ parodė realią first-of-type produkto kainą: todėl kitų produktų nebegalima planuoti „už 50–100 tūkst. EUR“</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4</a:t>
            </a:r>
          </a:p>
        </p:txBody>
      </p:sp>
      <p:sp>
        <p:nvSpPr>
          <p:cNvPr id="6" name="Rounded Rectangle 5"/>
          <p:cNvSpPr/>
          <p:nvPr/>
        </p:nvSpPr>
        <p:spPr>
          <a:xfrm>
            <a:off x="411480" y="960120"/>
            <a:ext cx="5623560" cy="530352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097280"/>
            <a:ext cx="5212080" cy="320040"/>
          </a:xfrm>
          <a:prstGeom prst="rect">
            <a:avLst/>
          </a:prstGeom>
          <a:noFill/>
        </p:spPr>
        <p:txBody>
          <a:bodyPr wrap="none">
            <a:spAutoFit/>
          </a:bodyPr>
          <a:lstStyle/>
          <a:p>
            <a:pPr>
              <a:defRPr sz="1500" b="1">
                <a:solidFill>
                  <a:srgbClr val="0B2B54"/>
                </a:solidFill>
              </a:defRPr>
            </a:pPr>
            <a:r>
              <a:t>EENĮ benchmarkas</a:t>
            </a:r>
          </a:p>
        </p:txBody>
      </p:sp>
      <p:graphicFrame>
        <p:nvGraphicFramePr>
          <p:cNvPr id="8" name="Table 7"/>
          <p:cNvGraphicFramePr>
            <a:graphicFrameLocks noGrp="1"/>
          </p:cNvGraphicFramePr>
          <p:nvPr/>
        </p:nvGraphicFramePr>
        <p:xfrm>
          <a:off x="621792" y="1481328"/>
          <a:ext cx="5212080" cy="2240280"/>
        </p:xfrm>
        <a:graphic>
          <a:graphicData uri="http://schemas.openxmlformats.org/drawingml/2006/table">
            <a:tbl>
              <a:tblPr firstRow="1" bandRow="1">
                <a:tableStyleId>{5C22544A-7EE6-4342-B048-85BDC9FD1C3A}</a:tableStyleId>
              </a:tblPr>
              <a:tblGrid>
                <a:gridCol w="2606040"/>
                <a:gridCol w="2606040"/>
              </a:tblGrid>
              <a:tr h="448056">
                <a:tc>
                  <a:txBody>
                    <a:bodyPr wrap="square"/>
                    <a:lstStyle/>
                    <a:p>
                      <a:pPr>
                        <a:defRPr sz="1100" b="1">
                          <a:solidFill>
                            <a:srgbClr val="FFFFFF"/>
                          </a:solidFill>
                        </a:defRPr>
                      </a:pPr>
                      <a:r>
                        <a:t>Eilutė</a:t>
                      </a:r>
                    </a:p>
                  </a:txBody>
                  <a:tcPr>
                    <a:solidFill>
                      <a:srgbClr val="0B2B54"/>
                    </a:solidFill>
                  </a:tcPr>
                </a:tc>
                <a:tc>
                  <a:txBody>
                    <a:bodyPr wrap="square"/>
                    <a:lstStyle/>
                    <a:p>
                      <a:pPr>
                        <a:defRPr sz="1100" b="1">
                          <a:solidFill>
                            <a:srgbClr val="FFFFFF"/>
                          </a:solidFill>
                        </a:defRPr>
                      </a:pPr>
                      <a:r>
                        <a:t>EUR</a:t>
                      </a:r>
                    </a:p>
                  </a:txBody>
                  <a:tcPr>
                    <a:solidFill>
                      <a:srgbClr val="0B2B54"/>
                    </a:solidFill>
                  </a:tcPr>
                </a:tc>
              </a:tr>
              <a:tr h="448056">
                <a:tc>
                  <a:txBody>
                    <a:bodyPr wrap="square"/>
                    <a:lstStyle/>
                    <a:p>
                      <a:pPr>
                        <a:defRPr sz="1100">
                          <a:solidFill>
                            <a:srgbClr val="212529"/>
                          </a:solidFill>
                        </a:defRPr>
                      </a:pPr>
                      <a:r>
                        <a:t>Bronze (GPC DIK)</a:t>
                      </a:r>
                    </a:p>
                  </a:txBody>
                  <a:tcPr>
                    <a:solidFill>
                      <a:srgbClr val="FFFFFF"/>
                    </a:solidFill>
                  </a:tcPr>
                </a:tc>
                <a:tc>
                  <a:txBody>
                    <a:bodyPr wrap="square"/>
                    <a:lstStyle/>
                    <a:p>
                      <a:pPr>
                        <a:defRPr sz="1100">
                          <a:solidFill>
                            <a:srgbClr val="212529"/>
                          </a:solidFill>
                        </a:defRPr>
                      </a:pPr>
                      <a:r>
                        <a:t>775 000</a:t>
                      </a:r>
                    </a:p>
                  </a:txBody>
                  <a:tcPr>
                    <a:solidFill>
                      <a:srgbClr val="FFFFFF"/>
                    </a:solidFill>
                  </a:tcPr>
                </a:tc>
              </a:tr>
              <a:tr h="448056">
                <a:tc>
                  <a:txBody>
                    <a:bodyPr wrap="square"/>
                    <a:lstStyle/>
                    <a:p>
                      <a:pPr>
                        <a:defRPr sz="1100">
                          <a:solidFill>
                            <a:srgbClr val="212529"/>
                          </a:solidFill>
                        </a:defRPr>
                      </a:pPr>
                      <a:r>
                        <a:t>Silver 2 + Power BI + PM + veiklos ekspertai</a:t>
                      </a:r>
                    </a:p>
                  </a:txBody>
                  <a:tcPr>
                    <a:solidFill>
                      <a:srgbClr val="F8FBFF"/>
                    </a:solidFill>
                  </a:tcPr>
                </a:tc>
                <a:tc>
                  <a:txBody>
                    <a:bodyPr wrap="square"/>
                    <a:lstStyle/>
                    <a:p>
                      <a:pPr>
                        <a:defRPr sz="1100">
                          <a:solidFill>
                            <a:srgbClr val="212529"/>
                          </a:solidFill>
                        </a:defRPr>
                      </a:pPr>
                      <a:r>
                        <a:t>994 568</a:t>
                      </a:r>
                    </a:p>
                  </a:txBody>
                  <a:tcPr>
                    <a:solidFill>
                      <a:srgbClr val="F8FBFF"/>
                    </a:solidFill>
                  </a:tcPr>
                </a:tc>
              </a:tr>
              <a:tr h="448056">
                <a:tc>
                  <a:txBody>
                    <a:bodyPr wrap="square"/>
                    <a:lstStyle/>
                    <a:p>
                      <a:pPr>
                        <a:defRPr sz="1100">
                          <a:solidFill>
                            <a:srgbClr val="212529"/>
                          </a:solidFill>
                        </a:defRPr>
                      </a:pPr>
                      <a:r>
                        <a:t>IT delivery be veiklos ekspertų</a:t>
                      </a:r>
                    </a:p>
                  </a:txBody>
                  <a:tcPr>
                    <a:solidFill>
                      <a:srgbClr val="FFFFFF"/>
                    </a:solidFill>
                  </a:tcPr>
                </a:tc>
                <a:tc>
                  <a:txBody>
                    <a:bodyPr wrap="square"/>
                    <a:lstStyle/>
                    <a:p>
                      <a:pPr>
                        <a:defRPr sz="1100">
                          <a:solidFill>
                            <a:srgbClr val="212529"/>
                          </a:solidFill>
                        </a:defRPr>
                      </a:pPr>
                      <a:r>
                        <a:t>1 183 392</a:t>
                      </a:r>
                    </a:p>
                  </a:txBody>
                  <a:tcPr>
                    <a:solidFill>
                      <a:srgbClr val="FFFFFF"/>
                    </a:solidFill>
                  </a:tcPr>
                </a:tc>
              </a:tr>
              <a:tr h="448056">
                <a:tc>
                  <a:txBody>
                    <a:bodyPr wrap="square"/>
                    <a:lstStyle/>
                    <a:p>
                      <a:pPr>
                        <a:defRPr sz="1100">
                          <a:solidFill>
                            <a:srgbClr val="212529"/>
                          </a:solidFill>
                        </a:defRPr>
                      </a:pPr>
                      <a:r>
                        <a:t>Pilna ekonominė kaina</a:t>
                      </a:r>
                    </a:p>
                  </a:txBody>
                  <a:tcPr>
                    <a:solidFill>
                      <a:srgbClr val="F8FBFF"/>
                    </a:solidFill>
                  </a:tcPr>
                </a:tc>
                <a:tc>
                  <a:txBody>
                    <a:bodyPr wrap="square"/>
                    <a:lstStyle/>
                    <a:p>
                      <a:pPr>
                        <a:defRPr sz="1100">
                          <a:solidFill>
                            <a:srgbClr val="212529"/>
                          </a:solidFill>
                        </a:defRPr>
                      </a:pPr>
                      <a:r>
                        <a:t>1 769 568</a:t>
                      </a:r>
                    </a:p>
                  </a:txBody>
                  <a:tcPr>
                    <a:solidFill>
                      <a:srgbClr val="F8FBFF"/>
                    </a:solidFill>
                  </a:tcPr>
                </a:tc>
              </a:tr>
            </a:tbl>
          </a:graphicData>
        </a:graphic>
      </p:graphicFrame>
      <p:sp>
        <p:nvSpPr>
          <p:cNvPr id="9" name="TextBox 8"/>
          <p:cNvSpPr txBox="1"/>
          <p:nvPr/>
        </p:nvSpPr>
        <p:spPr>
          <a:xfrm>
            <a:off x="621792" y="3840480"/>
            <a:ext cx="5212080" cy="2240280"/>
          </a:xfrm>
          <a:prstGeom prst="rect">
            <a:avLst/>
          </a:prstGeom>
          <a:noFill/>
        </p:spPr>
        <p:txBody>
          <a:bodyPr wrap="none">
            <a:spAutoFit/>
          </a:bodyPr>
          <a:lstStyle/>
          <a:p>
            <a:pPr>
              <a:defRPr sz="1200" b="0">
                <a:solidFill>
                  <a:srgbClr val="212529"/>
                </a:solidFill>
              </a:defRPr>
            </a:pPr>
            <a:r>
              <a:t>Ką tai reiškia</a:t>
            </a:r>
          </a:p>
          <a:p>
            <a:pPr>
              <a:defRPr sz="1200" b="0">
                <a:solidFill>
                  <a:srgbClr val="212529"/>
                </a:solidFill>
              </a:defRPr>
            </a:pPr>
            <a:r>
              <a:t>EENĮ finansavo first-of-type produkto kompleksą:</a:t>
            </a:r>
          </a:p>
          <a:p>
            <a:pPr>
              <a:defRPr sz="1200" b="0">
                <a:solidFill>
                  <a:srgbClr val="212529"/>
                </a:solidFill>
              </a:defRPr>
            </a:pPr>
            <a:r>
              <a:t>domain discovery</a:t>
            </a:r>
          </a:p>
          <a:p>
            <a:pPr>
              <a:defRPr sz="1200" b="0">
                <a:solidFill>
                  <a:srgbClr val="212529"/>
                </a:solidFill>
              </a:defRPr>
            </a:pPr>
            <a:r>
              <a:t>reusable duomenų pažinimo įdirbį</a:t>
            </a:r>
          </a:p>
          <a:p>
            <a:pPr>
              <a:defRPr sz="1200" b="0">
                <a:solidFill>
                  <a:srgbClr val="212529"/>
                </a:solidFill>
              </a:defRPr>
            </a:pPr>
            <a:r>
              <a:t>DQ ir governance pradžią</a:t>
            </a:r>
          </a:p>
          <a:p>
            <a:pPr>
              <a:defRPr sz="1200" b="0">
                <a:solidFill>
                  <a:srgbClr val="212529"/>
                </a:solidFill>
              </a:defRPr>
            </a:pPr>
            <a:r>
              <a:t>verslo taisyklių stabilizavimą</a:t>
            </a:r>
          </a:p>
          <a:p>
            <a:pPr>
              <a:defRPr sz="1200" b="0">
                <a:solidFill>
                  <a:srgbClr val="212529"/>
                </a:solidFill>
              </a:defRPr>
            </a:pPr>
            <a:r>
              <a:t>pirmus reusable asset'us</a:t>
            </a:r>
          </a:p>
        </p:txBody>
      </p:sp>
      <p:sp>
        <p:nvSpPr>
          <p:cNvPr id="10" name="Rounded Rectangle 9"/>
          <p:cNvSpPr/>
          <p:nvPr/>
        </p:nvSpPr>
        <p:spPr>
          <a:xfrm>
            <a:off x="6263640" y="960120"/>
            <a:ext cx="5532120" cy="530352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097280"/>
            <a:ext cx="5120640" cy="411480"/>
          </a:xfrm>
          <a:prstGeom prst="rect">
            <a:avLst/>
          </a:prstGeom>
          <a:noFill/>
        </p:spPr>
        <p:txBody>
          <a:bodyPr wrap="none">
            <a:spAutoFit/>
          </a:bodyPr>
          <a:lstStyle/>
          <a:p>
            <a:pPr>
              <a:defRPr sz="1500" b="1">
                <a:solidFill>
                  <a:srgbClr val="0B2B54"/>
                </a:solidFill>
              </a:defRPr>
            </a:pPr>
            <a:r>
              <a:t>Realistinis kito produktų kainynas po EENĮ</a:t>
            </a:r>
          </a:p>
        </p:txBody>
      </p:sp>
      <p:graphicFrame>
        <p:nvGraphicFramePr>
          <p:cNvPr id="12" name="Table 11"/>
          <p:cNvGraphicFramePr>
            <a:graphicFrameLocks noGrp="1"/>
          </p:cNvGraphicFramePr>
          <p:nvPr/>
        </p:nvGraphicFramePr>
        <p:xfrm>
          <a:off x="6492240" y="1600200"/>
          <a:ext cx="5120637" cy="2011680"/>
        </p:xfrm>
        <a:graphic>
          <a:graphicData uri="http://schemas.openxmlformats.org/drawingml/2006/table">
            <a:tbl>
              <a:tblPr firstRow="1" bandRow="1">
                <a:tableStyleId>{5C22544A-7EE6-4342-B048-85BDC9FD1C3A}</a:tableStyleId>
              </a:tblPr>
              <a:tblGrid>
                <a:gridCol w="1706879"/>
                <a:gridCol w="1706879"/>
                <a:gridCol w="1706879"/>
              </a:tblGrid>
              <a:tr h="502920">
                <a:tc>
                  <a:txBody>
                    <a:bodyPr wrap="square"/>
                    <a:lstStyle/>
                    <a:p>
                      <a:pPr>
                        <a:defRPr sz="1000" b="1">
                          <a:solidFill>
                            <a:srgbClr val="FFFFFF"/>
                          </a:solidFill>
                        </a:defRPr>
                      </a:pPr>
                      <a:r>
                        <a:t>Produkto tipas</a:t>
                      </a:r>
                    </a:p>
                  </a:txBody>
                  <a:tcPr>
                    <a:solidFill>
                      <a:srgbClr val="0B2B54"/>
                    </a:solidFill>
                  </a:tcPr>
                </a:tc>
                <a:tc>
                  <a:txBody>
                    <a:bodyPr wrap="square"/>
                    <a:lstStyle/>
                    <a:p>
                      <a:pPr>
                        <a:defRPr sz="1000" b="1">
                          <a:solidFill>
                            <a:srgbClr val="FFFFFF"/>
                          </a:solidFill>
                        </a:defRPr>
                      </a:pPr>
                      <a:r>
                        <a:t>IT delivery</a:t>
                      </a:r>
                    </a:p>
                  </a:txBody>
                  <a:tcPr>
                    <a:solidFill>
                      <a:srgbClr val="0B2B54"/>
                    </a:solidFill>
                  </a:tcPr>
                </a:tc>
                <a:tc>
                  <a:txBody>
                    <a:bodyPr wrap="square"/>
                    <a:lstStyle/>
                    <a:p>
                      <a:pPr>
                        <a:defRPr sz="1000" b="1">
                          <a:solidFill>
                            <a:srgbClr val="FFFFFF"/>
                          </a:solidFill>
                        </a:defRPr>
                      </a:pPr>
                      <a:r>
                        <a:t>Pilna ekonominė kaina</a:t>
                      </a:r>
                    </a:p>
                  </a:txBody>
                  <a:tcPr>
                    <a:solidFill>
                      <a:srgbClr val="0B2B54"/>
                    </a:solidFill>
                  </a:tcPr>
                </a:tc>
              </a:tr>
              <a:tr h="502920">
                <a:tc>
                  <a:txBody>
                    <a:bodyPr wrap="square"/>
                    <a:lstStyle/>
                    <a:p>
                      <a:pPr>
                        <a:defRPr sz="1000">
                          <a:solidFill>
                            <a:srgbClr val="212529"/>
                          </a:solidFill>
                        </a:defRPr>
                      </a:pPr>
                      <a:r>
                        <a:t>Reuse-heavy produktas</a:t>
                      </a:r>
                    </a:p>
                  </a:txBody>
                  <a:tcPr>
                    <a:solidFill>
                      <a:srgbClr val="FFFFFF"/>
                    </a:solidFill>
                  </a:tcPr>
                </a:tc>
                <a:tc>
                  <a:txBody>
                    <a:bodyPr wrap="square"/>
                    <a:lstStyle/>
                    <a:p>
                      <a:pPr>
                        <a:defRPr sz="1000">
                          <a:solidFill>
                            <a:srgbClr val="212529"/>
                          </a:solidFill>
                        </a:defRPr>
                      </a:pPr>
                      <a:r>
                        <a:t>180–300 kEUR</a:t>
                      </a:r>
                    </a:p>
                  </a:txBody>
                  <a:tcPr>
                    <a:solidFill>
                      <a:srgbClr val="FFFFFF"/>
                    </a:solidFill>
                  </a:tcPr>
                </a:tc>
                <a:tc>
                  <a:txBody>
                    <a:bodyPr wrap="square"/>
                    <a:lstStyle/>
                    <a:p>
                      <a:pPr>
                        <a:defRPr sz="1000">
                          <a:solidFill>
                            <a:srgbClr val="212529"/>
                          </a:solidFill>
                        </a:defRPr>
                      </a:pPr>
                      <a:r>
                        <a:t>250–400 kEUR</a:t>
                      </a:r>
                    </a:p>
                  </a:txBody>
                  <a:tcPr>
                    <a:solidFill>
                      <a:srgbClr val="FFFFFF"/>
                    </a:solidFill>
                  </a:tcPr>
                </a:tc>
              </a:tr>
              <a:tr h="502920">
                <a:tc>
                  <a:txBody>
                    <a:bodyPr wrap="square"/>
                    <a:lstStyle/>
                    <a:p>
                      <a:pPr>
                        <a:defRPr sz="1000">
                          <a:solidFill>
                            <a:srgbClr val="212529"/>
                          </a:solidFill>
                        </a:defRPr>
                      </a:pPr>
                      <a:r>
                        <a:t>Vidutinio sudėtingumo produktas</a:t>
                      </a:r>
                    </a:p>
                  </a:txBody>
                  <a:tcPr>
                    <a:solidFill>
                      <a:srgbClr val="F8FBFF"/>
                    </a:solidFill>
                  </a:tcPr>
                </a:tc>
                <a:tc>
                  <a:txBody>
                    <a:bodyPr wrap="square"/>
                    <a:lstStyle/>
                    <a:p>
                      <a:pPr>
                        <a:defRPr sz="1000">
                          <a:solidFill>
                            <a:srgbClr val="212529"/>
                          </a:solidFill>
                        </a:defRPr>
                      </a:pPr>
                      <a:r>
                        <a:t>350–700 kEUR</a:t>
                      </a:r>
                    </a:p>
                  </a:txBody>
                  <a:tcPr>
                    <a:solidFill>
                      <a:srgbClr val="F8FBFF"/>
                    </a:solidFill>
                  </a:tcPr>
                </a:tc>
                <a:tc>
                  <a:txBody>
                    <a:bodyPr wrap="square"/>
                    <a:lstStyle/>
                    <a:p>
                      <a:pPr>
                        <a:defRPr sz="1000">
                          <a:solidFill>
                            <a:srgbClr val="212529"/>
                          </a:solidFill>
                        </a:defRPr>
                      </a:pPr>
                      <a:r>
                        <a:t>500–900 kEUR</a:t>
                      </a:r>
                    </a:p>
                  </a:txBody>
                  <a:tcPr>
                    <a:solidFill>
                      <a:srgbClr val="F8FBFF"/>
                    </a:solidFill>
                  </a:tcPr>
                </a:tc>
              </a:tr>
              <a:tr h="502920">
                <a:tc>
                  <a:txBody>
                    <a:bodyPr wrap="square"/>
                    <a:lstStyle/>
                    <a:p>
                      <a:pPr>
                        <a:defRPr sz="1000">
                          <a:solidFill>
                            <a:srgbClr val="212529"/>
                          </a:solidFill>
                        </a:defRPr>
                      </a:pPr>
                      <a:r>
                        <a:t>Projektiniu būdu nuo nulio</a:t>
                      </a:r>
                    </a:p>
                  </a:txBody>
                  <a:tcPr>
                    <a:solidFill>
                      <a:srgbClr val="FFFFFF"/>
                    </a:solidFill>
                  </a:tcPr>
                </a:tc>
                <a:tc>
                  <a:txBody>
                    <a:bodyPr wrap="square"/>
                    <a:lstStyle/>
                    <a:p>
                      <a:pPr>
                        <a:defRPr sz="1000">
                          <a:solidFill>
                            <a:srgbClr val="212529"/>
                          </a:solidFill>
                        </a:defRPr>
                      </a:pPr>
                      <a:r>
                        <a:t>350–600 kEUR+</a:t>
                      </a:r>
                    </a:p>
                  </a:txBody>
                  <a:tcPr>
                    <a:solidFill>
                      <a:srgbClr val="FFFFFF"/>
                    </a:solidFill>
                  </a:tcPr>
                </a:tc>
                <a:tc>
                  <a:txBody>
                    <a:bodyPr wrap="square"/>
                    <a:lstStyle/>
                    <a:p>
                      <a:pPr>
                        <a:defRPr sz="1000">
                          <a:solidFill>
                            <a:srgbClr val="212529"/>
                          </a:solidFill>
                        </a:defRPr>
                      </a:pPr>
                      <a:r>
                        <a:t>500–800 kEUR+</a:t>
                      </a:r>
                    </a:p>
                  </a:txBody>
                  <a:tcPr>
                    <a:solidFill>
                      <a:srgbClr val="FFFFFF"/>
                    </a:solidFill>
                  </a:tcPr>
                </a:tc>
              </a:tr>
            </a:tbl>
          </a:graphicData>
        </a:graphic>
      </p:graphicFrame>
      <p:sp>
        <p:nvSpPr>
          <p:cNvPr id="13" name="Rounded Rectangle 12"/>
          <p:cNvSpPr/>
          <p:nvPr/>
        </p:nvSpPr>
        <p:spPr>
          <a:xfrm>
            <a:off x="6492240" y="3794760"/>
            <a:ext cx="5120640" cy="224028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4005072"/>
            <a:ext cx="4754880" cy="1828800"/>
          </a:xfrm>
          <a:prstGeom prst="rect">
            <a:avLst/>
          </a:prstGeom>
          <a:noFill/>
        </p:spPr>
        <p:txBody>
          <a:bodyPr wrap="none">
            <a:spAutoFit/>
          </a:bodyPr>
          <a:lstStyle/>
          <a:p>
            <a:pPr>
              <a:defRPr sz="1200" b="0">
                <a:solidFill>
                  <a:srgbClr val="212529"/>
                </a:solidFill>
              </a:defRPr>
            </a:pPr>
            <a:r>
              <a:t>Esminė žinutė</a:t>
            </a:r>
          </a:p>
          <a:p>
            <a:pPr>
              <a:defRPr sz="1200" b="0">
                <a:solidFill>
                  <a:srgbClr val="212529"/>
                </a:solidFill>
              </a:defRPr>
            </a:pPr>
            <a:r>
              <a:t>First-of-type produktas yra brangus</a:t>
            </a:r>
          </a:p>
          <a:p>
            <a:pPr>
              <a:defRPr sz="1200" b="0">
                <a:solidFill>
                  <a:srgbClr val="212529"/>
                </a:solidFill>
              </a:defRPr>
            </a:pPr>
            <a:r>
              <a:t>Sekantys gretimi produktai ant reuse pagrindo turi būti ženkliai pigesni</a:t>
            </a:r>
          </a:p>
          <a:p>
            <a:pPr>
              <a:defRPr sz="1200" b="0">
                <a:solidFill>
                  <a:srgbClr val="212529"/>
                </a:solidFill>
              </a:defRPr>
            </a:pPr>
            <a:r>
              <a:t>Tačiau jie nėra „beveik nemokami“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Pirmas logiškas hipotetinis produktas po EENĮ – „Generacijų žemėlapis MVP“ – su reuse kainuotų ~43% mažiau ir būtų paleidžiamas ~2–3 mėn. greičiau</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5</a:t>
            </a:r>
          </a:p>
        </p:txBody>
      </p:sp>
      <p:sp>
        <p:nvSpPr>
          <p:cNvPr id="6" name="Rounded Rectangle 5"/>
          <p:cNvSpPr/>
          <p:nvPr/>
        </p:nvSpPr>
        <p:spPr>
          <a:xfrm>
            <a:off x="411480" y="914400"/>
            <a:ext cx="11384280" cy="77724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78992"/>
            <a:ext cx="10972800" cy="411480"/>
          </a:xfrm>
          <a:prstGeom prst="rect">
            <a:avLst/>
          </a:prstGeom>
          <a:noFill/>
        </p:spPr>
        <p:txBody>
          <a:bodyPr wrap="none">
            <a:spAutoFit/>
          </a:bodyPr>
          <a:lstStyle/>
          <a:p>
            <a:pPr>
              <a:defRPr sz="1200" b="0">
                <a:solidFill>
                  <a:srgbClr val="212529"/>
                </a:solidFill>
              </a:defRPr>
            </a:pPr>
            <a:r>
              <a:t>Kodėl logiškas pirmas: maksimaliai išnaudoja EENĮ topologiją, tracing, GIS lokaciją, Billing ryšį ir techninius tinklo atributus.</a:t>
            </a:r>
          </a:p>
        </p:txBody>
      </p:sp>
      <p:sp>
        <p:nvSpPr>
          <p:cNvPr id="8" name="Rounded Rectangle 7"/>
          <p:cNvSpPr/>
          <p:nvPr/>
        </p:nvSpPr>
        <p:spPr>
          <a:xfrm>
            <a:off x="411480" y="1783080"/>
            <a:ext cx="5669280" cy="356616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20240"/>
            <a:ext cx="5303520" cy="320040"/>
          </a:xfrm>
          <a:prstGeom prst="rect">
            <a:avLst/>
          </a:prstGeom>
          <a:noFill/>
        </p:spPr>
        <p:txBody>
          <a:bodyPr wrap="none">
            <a:spAutoFit/>
          </a:bodyPr>
          <a:lstStyle/>
          <a:p>
            <a:pPr>
              <a:defRPr sz="1400" b="1">
                <a:solidFill>
                  <a:srgbClr val="0B2B54"/>
                </a:solidFill>
              </a:defRPr>
            </a:pPr>
            <a:r>
              <a:t>A. Ant EENĮ / TDM reuse pagrindo</a:t>
            </a:r>
          </a:p>
        </p:txBody>
      </p:sp>
      <p:graphicFrame>
        <p:nvGraphicFramePr>
          <p:cNvPr id="10" name="Table 9"/>
          <p:cNvGraphicFramePr>
            <a:graphicFrameLocks noGrp="1"/>
          </p:cNvGraphicFramePr>
          <p:nvPr/>
        </p:nvGraphicFramePr>
        <p:xfrm>
          <a:off x="621792" y="2240280"/>
          <a:ext cx="5257800" cy="2606040"/>
        </p:xfrm>
        <a:graphic>
          <a:graphicData uri="http://schemas.openxmlformats.org/drawingml/2006/table">
            <a:tbl>
              <a:tblPr firstRow="1" bandRow="1">
                <a:tableStyleId>{5C22544A-7EE6-4342-B048-85BDC9FD1C3A}</a:tableStyleId>
              </a:tblPr>
              <a:tblGrid>
                <a:gridCol w="1752600"/>
                <a:gridCol w="1752600"/>
                <a:gridCol w="1752600"/>
              </a:tblGrid>
              <a:tr h="289560">
                <a:tc>
                  <a:txBody>
                    <a:bodyPr wrap="square"/>
                    <a:lstStyle/>
                    <a:p>
                      <a:pPr>
                        <a:defRPr sz="900" b="1">
                          <a:solidFill>
                            <a:srgbClr val="FFFFFF"/>
                          </a:solidFill>
                        </a:defRPr>
                      </a:pPr>
                      <a:r>
                        <a:t>Darbų dalis</a:t>
                      </a:r>
                    </a:p>
                  </a:txBody>
                  <a:tcPr>
                    <a:solidFill>
                      <a:srgbClr val="0B2B54"/>
                    </a:solidFill>
                  </a:tcPr>
                </a:tc>
                <a:tc>
                  <a:txBody>
                    <a:bodyPr wrap="square"/>
                    <a:lstStyle/>
                    <a:p>
                      <a:pPr>
                        <a:defRPr sz="900" b="1">
                          <a:solidFill>
                            <a:srgbClr val="FFFFFF"/>
                          </a:solidFill>
                        </a:defRPr>
                      </a:pPr>
                      <a:r>
                        <a:t>Val.</a:t>
                      </a:r>
                    </a:p>
                  </a:txBody>
                  <a:tcPr>
                    <a:solidFill>
                      <a:srgbClr val="0B2B54"/>
                    </a:solidFill>
                  </a:tcPr>
                </a:tc>
                <a:tc>
                  <a:txBody>
                    <a:bodyPr wrap="square"/>
                    <a:lstStyle/>
                    <a:p>
                      <a:pPr>
                        <a:defRPr sz="900" b="1">
                          <a:solidFill>
                            <a:srgbClr val="FFFFFF"/>
                          </a:solidFill>
                        </a:defRPr>
                      </a:pPr>
                      <a:r>
                        <a:t>kEUR</a:t>
                      </a:r>
                    </a:p>
                  </a:txBody>
                  <a:tcPr>
                    <a:solidFill>
                      <a:srgbClr val="0B2B54"/>
                    </a:solidFill>
                  </a:tcPr>
                </a:tc>
              </a:tr>
              <a:tr h="289560">
                <a:tc>
                  <a:txBody>
                    <a:bodyPr wrap="square"/>
                    <a:lstStyle/>
                    <a:p>
                      <a:pPr>
                        <a:defRPr sz="900">
                          <a:solidFill>
                            <a:srgbClr val="212529"/>
                          </a:solidFill>
                        </a:defRPr>
                      </a:pPr>
                      <a:r>
                        <a:t>Papildomos bronze lentos</a:t>
                      </a:r>
                    </a:p>
                  </a:txBody>
                  <a:tcPr>
                    <a:solidFill>
                      <a:srgbClr val="FFFFFF"/>
                    </a:solidFill>
                  </a:tcPr>
                </a:tc>
                <a:tc>
                  <a:txBody>
                    <a:bodyPr wrap="square"/>
                    <a:lstStyle/>
                    <a:p>
                      <a:pPr>
                        <a:defRPr sz="900">
                          <a:solidFill>
                            <a:srgbClr val="212529"/>
                          </a:solidFill>
                        </a:defRPr>
                      </a:pPr>
                      <a:r>
                        <a:t>240</a:t>
                      </a:r>
                    </a:p>
                  </a:txBody>
                  <a:tcPr>
                    <a:solidFill>
                      <a:srgbClr val="FFFFFF"/>
                    </a:solidFill>
                  </a:tcPr>
                </a:tc>
                <a:tc>
                  <a:txBody>
                    <a:bodyPr wrap="square"/>
                    <a:lstStyle/>
                    <a:p>
                      <a:pPr>
                        <a:defRPr sz="900">
                          <a:solidFill>
                            <a:srgbClr val="212529"/>
                          </a:solidFill>
                        </a:defRPr>
                      </a:pPr>
                      <a:r>
                        <a:t>16,8</a:t>
                      </a:r>
                    </a:p>
                  </a:txBody>
                  <a:tcPr>
                    <a:solidFill>
                      <a:srgbClr val="FFFFFF"/>
                    </a:solidFill>
                  </a:tcPr>
                </a:tc>
              </a:tr>
              <a:tr h="289560">
                <a:tc>
                  <a:txBody>
                    <a:bodyPr wrap="square"/>
                    <a:lstStyle/>
                    <a:p>
                      <a:pPr>
                        <a:defRPr sz="900">
                          <a:solidFill>
                            <a:srgbClr val="212529"/>
                          </a:solidFill>
                        </a:defRPr>
                      </a:pPr>
                      <a:r>
                        <a:t>Silver 2 plėtra + DQ</a:t>
                      </a:r>
                    </a:p>
                  </a:txBody>
                  <a:tcPr>
                    <a:solidFill>
                      <a:srgbClr val="F8FBFF"/>
                    </a:solidFill>
                  </a:tcPr>
                </a:tc>
                <a:tc>
                  <a:txBody>
                    <a:bodyPr wrap="square"/>
                    <a:lstStyle/>
                    <a:p>
                      <a:pPr>
                        <a:defRPr sz="900">
                          <a:solidFill>
                            <a:srgbClr val="212529"/>
                          </a:solidFill>
                        </a:defRPr>
                      </a:pPr>
                      <a:r>
                        <a:t>820</a:t>
                      </a:r>
                    </a:p>
                  </a:txBody>
                  <a:tcPr>
                    <a:solidFill>
                      <a:srgbClr val="F8FBFF"/>
                    </a:solidFill>
                  </a:tcPr>
                </a:tc>
                <a:tc>
                  <a:txBody>
                    <a:bodyPr wrap="square"/>
                    <a:lstStyle/>
                    <a:p>
                      <a:pPr>
                        <a:defRPr sz="900">
                          <a:solidFill>
                            <a:srgbClr val="212529"/>
                          </a:solidFill>
                        </a:defRPr>
                      </a:pPr>
                      <a:r>
                        <a:t>57,4</a:t>
                      </a:r>
                    </a:p>
                  </a:txBody>
                  <a:tcPr>
                    <a:solidFill>
                      <a:srgbClr val="F8FBFF"/>
                    </a:solidFill>
                  </a:tcPr>
                </a:tc>
              </a:tr>
              <a:tr h="289560">
                <a:tc>
                  <a:txBody>
                    <a:bodyPr wrap="square"/>
                    <a:lstStyle/>
                    <a:p>
                      <a:pPr>
                        <a:defRPr sz="900">
                          <a:solidFill>
                            <a:srgbClr val="212529"/>
                          </a:solidFill>
                        </a:defRPr>
                      </a:pPr>
                      <a:r>
                        <a:t>Gold MVP logika / vizualizacija</a:t>
                      </a:r>
                    </a:p>
                  </a:txBody>
                  <a:tcPr>
                    <a:solidFill>
                      <a:srgbClr val="FFFFFF"/>
                    </a:solidFill>
                  </a:tcPr>
                </a:tc>
                <a:tc>
                  <a:txBody>
                    <a:bodyPr wrap="square"/>
                    <a:lstStyle/>
                    <a:p>
                      <a:pPr>
                        <a:defRPr sz="900">
                          <a:solidFill>
                            <a:srgbClr val="212529"/>
                          </a:solidFill>
                        </a:defRPr>
                      </a:pPr>
                      <a:r>
                        <a:t>480</a:t>
                      </a:r>
                    </a:p>
                  </a:txBody>
                  <a:tcPr>
                    <a:solidFill>
                      <a:srgbClr val="FFFFFF"/>
                    </a:solidFill>
                  </a:tcPr>
                </a:tc>
                <a:tc>
                  <a:txBody>
                    <a:bodyPr wrap="square"/>
                    <a:lstStyle/>
                    <a:p>
                      <a:pPr>
                        <a:defRPr sz="900">
                          <a:solidFill>
                            <a:srgbClr val="212529"/>
                          </a:solidFill>
                        </a:defRPr>
                      </a:pPr>
                      <a:r>
                        <a:t>33,6</a:t>
                      </a:r>
                    </a:p>
                  </a:txBody>
                  <a:tcPr>
                    <a:solidFill>
                      <a:srgbClr val="FFFFFF"/>
                    </a:solidFill>
                  </a:tcPr>
                </a:tc>
              </a:tr>
              <a:tr h="289560">
                <a:tc>
                  <a:txBody>
                    <a:bodyPr wrap="square"/>
                    <a:lstStyle/>
                    <a:p>
                      <a:pPr>
                        <a:defRPr sz="900">
                          <a:solidFill>
                            <a:srgbClr val="212529"/>
                          </a:solidFill>
                        </a:defRPr>
                      </a:pPr>
                      <a:r>
                        <a:t>Governance / glossary / lineage</a:t>
                      </a:r>
                    </a:p>
                  </a:txBody>
                  <a:tcPr>
                    <a:solidFill>
                      <a:srgbClr val="F8FBFF"/>
                    </a:solidFill>
                  </a:tcPr>
                </a:tc>
                <a:tc>
                  <a:txBody>
                    <a:bodyPr wrap="square"/>
                    <a:lstStyle/>
                    <a:p>
                      <a:pPr>
                        <a:defRPr sz="900">
                          <a:solidFill>
                            <a:srgbClr val="212529"/>
                          </a:solidFill>
                        </a:defRPr>
                      </a:pPr>
                      <a:r>
                        <a:t>260</a:t>
                      </a:r>
                    </a:p>
                  </a:txBody>
                  <a:tcPr>
                    <a:solidFill>
                      <a:srgbClr val="F8FBFF"/>
                    </a:solidFill>
                  </a:tcPr>
                </a:tc>
                <a:tc>
                  <a:txBody>
                    <a:bodyPr wrap="square"/>
                    <a:lstStyle/>
                    <a:p>
                      <a:pPr>
                        <a:defRPr sz="900">
                          <a:solidFill>
                            <a:srgbClr val="212529"/>
                          </a:solidFill>
                        </a:defRPr>
                      </a:pPr>
                      <a:r>
                        <a:t>18,2</a:t>
                      </a:r>
                    </a:p>
                  </a:txBody>
                  <a:tcPr>
                    <a:solidFill>
                      <a:srgbClr val="F8FBFF"/>
                    </a:solidFill>
                  </a:tcPr>
                </a:tc>
              </a:tr>
              <a:tr h="289560">
                <a:tc>
                  <a:txBody>
                    <a:bodyPr wrap="square"/>
                    <a:lstStyle/>
                    <a:p>
                      <a:pPr>
                        <a:defRPr sz="900">
                          <a:solidFill>
                            <a:srgbClr val="212529"/>
                          </a:solidFill>
                        </a:defRPr>
                      </a:pPr>
                      <a:r>
                        <a:t>Veiklos ekspertai / UAT</a:t>
                      </a:r>
                    </a:p>
                  </a:txBody>
                  <a:tcPr>
                    <a:solidFill>
                      <a:srgbClr val="FFFFFF"/>
                    </a:solidFill>
                  </a:tcPr>
                </a:tc>
                <a:tc>
                  <a:txBody>
                    <a:bodyPr wrap="square"/>
                    <a:lstStyle/>
                    <a:p>
                      <a:pPr>
                        <a:defRPr sz="900">
                          <a:solidFill>
                            <a:srgbClr val="212529"/>
                          </a:solidFill>
                        </a:defRPr>
                      </a:pPr>
                      <a:r>
                        <a:t>860</a:t>
                      </a:r>
                    </a:p>
                  </a:txBody>
                  <a:tcPr>
                    <a:solidFill>
                      <a:srgbClr val="FFFFFF"/>
                    </a:solidFill>
                  </a:tcPr>
                </a:tc>
                <a:tc>
                  <a:txBody>
                    <a:bodyPr wrap="square"/>
                    <a:lstStyle/>
                    <a:p>
                      <a:pPr>
                        <a:defRPr sz="900">
                          <a:solidFill>
                            <a:srgbClr val="212529"/>
                          </a:solidFill>
                        </a:defRPr>
                      </a:pPr>
                      <a:r>
                        <a:t>60,2</a:t>
                      </a:r>
                    </a:p>
                  </a:txBody>
                  <a:tcPr>
                    <a:solidFill>
                      <a:srgbClr val="FFFFFF"/>
                    </a:solidFill>
                  </a:tcPr>
                </a:tc>
              </a:tr>
              <a:tr h="289560">
                <a:tc>
                  <a:txBody>
                    <a:bodyPr wrap="square"/>
                    <a:lstStyle/>
                    <a:p>
                      <a:pPr>
                        <a:defRPr sz="900">
                          <a:solidFill>
                            <a:srgbClr val="212529"/>
                          </a:solidFill>
                        </a:defRPr>
                      </a:pPr>
                      <a:r>
                        <a:t>Architektūra / PM / stabilizacija</a:t>
                      </a:r>
                    </a:p>
                  </a:txBody>
                  <a:tcPr>
                    <a:solidFill>
                      <a:srgbClr val="F8FBFF"/>
                    </a:solidFill>
                  </a:tcPr>
                </a:tc>
                <a:tc>
                  <a:txBody>
                    <a:bodyPr wrap="square"/>
                    <a:lstStyle/>
                    <a:p>
                      <a:pPr>
                        <a:defRPr sz="900">
                          <a:solidFill>
                            <a:srgbClr val="212529"/>
                          </a:solidFill>
                        </a:defRPr>
                      </a:pPr>
                      <a:r>
                        <a:t>480</a:t>
                      </a:r>
                    </a:p>
                  </a:txBody>
                  <a:tcPr>
                    <a:solidFill>
                      <a:srgbClr val="F8FBFF"/>
                    </a:solidFill>
                  </a:tcPr>
                </a:tc>
                <a:tc>
                  <a:txBody>
                    <a:bodyPr wrap="square"/>
                    <a:lstStyle/>
                    <a:p>
                      <a:pPr>
                        <a:defRPr sz="900">
                          <a:solidFill>
                            <a:srgbClr val="212529"/>
                          </a:solidFill>
                        </a:defRPr>
                      </a:pPr>
                      <a:r>
                        <a:t>33,6</a:t>
                      </a:r>
                    </a:p>
                  </a:txBody>
                  <a:tcPr>
                    <a:solidFill>
                      <a:srgbClr val="F8FBFF"/>
                    </a:solidFill>
                  </a:tcPr>
                </a:tc>
              </a:tr>
              <a:tr h="289560">
                <a:tc>
                  <a:txBody>
                    <a:bodyPr wrap="square"/>
                    <a:lstStyle/>
                    <a:p>
                      <a:pPr>
                        <a:defRPr sz="900">
                          <a:solidFill>
                            <a:srgbClr val="212529"/>
                          </a:solidFill>
                        </a:defRPr>
                      </a:pPr>
                      <a:r>
                        <a:t>Rezervas (~15%)</a:t>
                      </a:r>
                    </a:p>
                  </a:txBody>
                  <a:tcPr>
                    <a:solidFill>
                      <a:srgbClr val="FFFFFF"/>
                    </a:solidFill>
                  </a:tcPr>
                </a:tc>
                <a:tc>
                  <a:txBody>
                    <a:bodyPr wrap="square"/>
                    <a:lstStyle/>
                    <a:p>
                      <a:pPr>
                        <a:defRPr sz="900">
                          <a:solidFill>
                            <a:srgbClr val="212529"/>
                          </a:solidFill>
                        </a:defRPr>
                      </a:pPr>
                      <a:r>
                        <a:t>-</a:t>
                      </a:r>
                    </a:p>
                  </a:txBody>
                  <a:tcPr>
                    <a:solidFill>
                      <a:srgbClr val="FFFFFF"/>
                    </a:solidFill>
                  </a:tcPr>
                </a:tc>
                <a:tc>
                  <a:txBody>
                    <a:bodyPr wrap="square"/>
                    <a:lstStyle/>
                    <a:p>
                      <a:pPr>
                        <a:defRPr sz="900">
                          <a:solidFill>
                            <a:srgbClr val="212529"/>
                          </a:solidFill>
                        </a:defRPr>
                      </a:pPr>
                      <a:r>
                        <a:t>40,2</a:t>
                      </a:r>
                    </a:p>
                  </a:txBody>
                  <a:tcPr>
                    <a:solidFill>
                      <a:srgbClr val="FFFFFF"/>
                    </a:solidFill>
                  </a:tcPr>
                </a:tc>
              </a:tr>
              <a:tr h="289560">
                <a:tc>
                  <a:txBody>
                    <a:bodyPr wrap="square"/>
                    <a:lstStyle/>
                    <a:p>
                      <a:pPr>
                        <a:defRPr sz="900">
                          <a:solidFill>
                            <a:srgbClr val="212529"/>
                          </a:solidFill>
                        </a:defRPr>
                      </a:pPr>
                      <a:r>
                        <a:t>Iš viso</a:t>
                      </a:r>
                    </a:p>
                  </a:txBody>
                  <a:tcPr>
                    <a:solidFill>
                      <a:srgbClr val="F8FBFF"/>
                    </a:solidFill>
                  </a:tcPr>
                </a:tc>
                <a:tc>
                  <a:txBody>
                    <a:bodyPr wrap="square"/>
                    <a:lstStyle/>
                    <a:p>
                      <a:pPr>
                        <a:defRPr sz="900">
                          <a:solidFill>
                            <a:srgbClr val="212529"/>
                          </a:solidFill>
                        </a:defRPr>
                      </a:pPr>
                      <a:r>
                        <a:t>3 140 val.</a:t>
                      </a:r>
                    </a:p>
                  </a:txBody>
                  <a:tcPr>
                    <a:solidFill>
                      <a:srgbClr val="F8FBFF"/>
                    </a:solidFill>
                  </a:tcPr>
                </a:tc>
                <a:tc>
                  <a:txBody>
                    <a:bodyPr wrap="square"/>
                    <a:lstStyle/>
                    <a:p>
                      <a:pPr>
                        <a:defRPr sz="900">
                          <a:solidFill>
                            <a:srgbClr val="212529"/>
                          </a:solidFill>
                        </a:defRPr>
                      </a:pPr>
                      <a:r>
                        <a:t>~300 kEUR</a:t>
                      </a:r>
                    </a:p>
                  </a:txBody>
                  <a:tcPr>
                    <a:solidFill>
                      <a:srgbClr val="F8FBFF"/>
                    </a:solidFill>
                  </a:tcPr>
                </a:tc>
              </a:tr>
            </a:tbl>
          </a:graphicData>
        </a:graphic>
      </p:graphicFrame>
      <p:sp>
        <p:nvSpPr>
          <p:cNvPr id="11" name="TextBox 10"/>
          <p:cNvSpPr txBox="1"/>
          <p:nvPr/>
        </p:nvSpPr>
        <p:spPr>
          <a:xfrm>
            <a:off x="658368" y="4919472"/>
            <a:ext cx="5120640" cy="320040"/>
          </a:xfrm>
          <a:prstGeom prst="rect">
            <a:avLst/>
          </a:prstGeom>
          <a:noFill/>
        </p:spPr>
        <p:txBody>
          <a:bodyPr wrap="none">
            <a:spAutoFit/>
          </a:bodyPr>
          <a:lstStyle/>
          <a:p>
            <a:pPr>
              <a:defRPr sz="1200" b="1">
                <a:solidFill>
                  <a:srgbClr val="228B22"/>
                </a:solidFill>
              </a:defRPr>
            </a:pPr>
            <a:r>
              <a:t>Trukmė: ~4–6 mėn.</a:t>
            </a:r>
          </a:p>
        </p:txBody>
      </p:sp>
      <p:sp>
        <p:nvSpPr>
          <p:cNvPr id="12" name="Rounded Rectangle 11"/>
          <p:cNvSpPr/>
          <p:nvPr/>
        </p:nvSpPr>
        <p:spPr>
          <a:xfrm>
            <a:off x="6172200" y="1783080"/>
            <a:ext cx="5623560" cy="3566160"/>
          </a:xfrm>
          <a:prstGeom prst="roundRect">
            <a:avLst/>
          </a:prstGeom>
          <a:solidFill>
            <a:srgbClr val="ECF7FA"/>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920240"/>
            <a:ext cx="5257800" cy="320040"/>
          </a:xfrm>
          <a:prstGeom prst="rect">
            <a:avLst/>
          </a:prstGeom>
          <a:noFill/>
        </p:spPr>
        <p:txBody>
          <a:bodyPr wrap="none">
            <a:spAutoFit/>
          </a:bodyPr>
          <a:lstStyle/>
          <a:p>
            <a:pPr>
              <a:defRPr sz="1400" b="1">
                <a:solidFill>
                  <a:srgbClr val="0B2B54"/>
                </a:solidFill>
              </a:defRPr>
            </a:pPr>
            <a:r>
              <a:t>B. Projektiniu būdu nuo nulio</a:t>
            </a:r>
          </a:p>
        </p:txBody>
      </p:sp>
      <p:graphicFrame>
        <p:nvGraphicFramePr>
          <p:cNvPr id="14" name="Table 13"/>
          <p:cNvGraphicFramePr>
            <a:graphicFrameLocks noGrp="1"/>
          </p:cNvGraphicFramePr>
          <p:nvPr/>
        </p:nvGraphicFramePr>
        <p:xfrm>
          <a:off x="6382512" y="2240280"/>
          <a:ext cx="5212080" cy="2606040"/>
        </p:xfrm>
        <a:graphic>
          <a:graphicData uri="http://schemas.openxmlformats.org/drawingml/2006/table">
            <a:tbl>
              <a:tblPr firstRow="1" bandRow="1">
                <a:tableStyleId>{5C22544A-7EE6-4342-B048-85BDC9FD1C3A}</a:tableStyleId>
              </a:tblPr>
              <a:tblGrid>
                <a:gridCol w="1737360"/>
                <a:gridCol w="1737360"/>
                <a:gridCol w="1737360"/>
              </a:tblGrid>
              <a:tr h="289560">
                <a:tc>
                  <a:txBody>
                    <a:bodyPr wrap="square"/>
                    <a:lstStyle/>
                    <a:p>
                      <a:pPr>
                        <a:defRPr sz="900" b="1">
                          <a:solidFill>
                            <a:srgbClr val="FFFFFF"/>
                          </a:solidFill>
                        </a:defRPr>
                      </a:pPr>
                      <a:r>
                        <a:t>Darbų dalis</a:t>
                      </a:r>
                    </a:p>
                  </a:txBody>
                  <a:tcPr>
                    <a:solidFill>
                      <a:srgbClr val="0B2B54"/>
                    </a:solidFill>
                  </a:tcPr>
                </a:tc>
                <a:tc>
                  <a:txBody>
                    <a:bodyPr wrap="square"/>
                    <a:lstStyle/>
                    <a:p>
                      <a:pPr>
                        <a:defRPr sz="900" b="1">
                          <a:solidFill>
                            <a:srgbClr val="FFFFFF"/>
                          </a:solidFill>
                        </a:defRPr>
                      </a:pPr>
                      <a:r>
                        <a:t>Val.</a:t>
                      </a:r>
                    </a:p>
                  </a:txBody>
                  <a:tcPr>
                    <a:solidFill>
                      <a:srgbClr val="0B2B54"/>
                    </a:solidFill>
                  </a:tcPr>
                </a:tc>
                <a:tc>
                  <a:txBody>
                    <a:bodyPr wrap="square"/>
                    <a:lstStyle/>
                    <a:p>
                      <a:pPr>
                        <a:defRPr sz="900" b="1">
                          <a:solidFill>
                            <a:srgbClr val="FFFFFF"/>
                          </a:solidFill>
                        </a:defRPr>
                      </a:pPr>
                      <a:r>
                        <a:t>kEUR</a:t>
                      </a:r>
                    </a:p>
                  </a:txBody>
                  <a:tcPr>
                    <a:solidFill>
                      <a:srgbClr val="0B2B54"/>
                    </a:solidFill>
                  </a:tcPr>
                </a:tc>
              </a:tr>
              <a:tr h="289560">
                <a:tc>
                  <a:txBody>
                    <a:bodyPr wrap="square"/>
                    <a:lstStyle/>
                    <a:p>
                      <a:pPr>
                        <a:defRPr sz="900">
                          <a:solidFill>
                            <a:srgbClr val="212529"/>
                          </a:solidFill>
                        </a:defRPr>
                      </a:pPr>
                      <a:r>
                        <a:t>Discovery / source analysis</a:t>
                      </a:r>
                    </a:p>
                  </a:txBody>
                  <a:tcPr>
                    <a:solidFill>
                      <a:srgbClr val="FFFFFF"/>
                    </a:solidFill>
                  </a:tcPr>
                </a:tc>
                <a:tc>
                  <a:txBody>
                    <a:bodyPr wrap="square"/>
                    <a:lstStyle/>
                    <a:p>
                      <a:pPr>
                        <a:defRPr sz="900">
                          <a:solidFill>
                            <a:srgbClr val="212529"/>
                          </a:solidFill>
                        </a:defRPr>
                      </a:pPr>
                      <a:r>
                        <a:t>650</a:t>
                      </a:r>
                    </a:p>
                  </a:txBody>
                  <a:tcPr>
                    <a:solidFill>
                      <a:srgbClr val="FFFFFF"/>
                    </a:solidFill>
                  </a:tcPr>
                </a:tc>
                <a:tc>
                  <a:txBody>
                    <a:bodyPr wrap="square"/>
                    <a:lstStyle/>
                    <a:p>
                      <a:pPr>
                        <a:defRPr sz="900">
                          <a:solidFill>
                            <a:srgbClr val="212529"/>
                          </a:solidFill>
                        </a:defRPr>
                      </a:pPr>
                      <a:r>
                        <a:t>45,5</a:t>
                      </a:r>
                    </a:p>
                  </a:txBody>
                  <a:tcPr>
                    <a:solidFill>
                      <a:srgbClr val="FFFFFF"/>
                    </a:solidFill>
                  </a:tcPr>
                </a:tc>
              </a:tr>
              <a:tr h="289560">
                <a:tc>
                  <a:txBody>
                    <a:bodyPr wrap="square"/>
                    <a:lstStyle/>
                    <a:p>
                      <a:pPr>
                        <a:defRPr sz="900">
                          <a:solidFill>
                            <a:srgbClr val="212529"/>
                          </a:solidFill>
                        </a:defRPr>
                      </a:pPr>
                      <a:r>
                        <a:t>Naujas bronze onboarding + DQ</a:t>
                      </a:r>
                    </a:p>
                  </a:txBody>
                  <a:tcPr>
                    <a:solidFill>
                      <a:srgbClr val="F8FBFF"/>
                    </a:solidFill>
                  </a:tcPr>
                </a:tc>
                <a:tc>
                  <a:txBody>
                    <a:bodyPr wrap="square"/>
                    <a:lstStyle/>
                    <a:p>
                      <a:pPr>
                        <a:defRPr sz="900">
                          <a:solidFill>
                            <a:srgbClr val="212529"/>
                          </a:solidFill>
                        </a:defRPr>
                      </a:pPr>
                      <a:r>
                        <a:t>650</a:t>
                      </a:r>
                    </a:p>
                  </a:txBody>
                  <a:tcPr>
                    <a:solidFill>
                      <a:srgbClr val="F8FBFF"/>
                    </a:solidFill>
                  </a:tcPr>
                </a:tc>
                <a:tc>
                  <a:txBody>
                    <a:bodyPr wrap="square"/>
                    <a:lstStyle/>
                    <a:p>
                      <a:pPr>
                        <a:defRPr sz="900">
                          <a:solidFill>
                            <a:srgbClr val="212529"/>
                          </a:solidFill>
                        </a:defRPr>
                      </a:pPr>
                      <a:r>
                        <a:t>45,5</a:t>
                      </a:r>
                    </a:p>
                  </a:txBody>
                  <a:tcPr>
                    <a:solidFill>
                      <a:srgbClr val="F8FBFF"/>
                    </a:solidFill>
                  </a:tcPr>
                </a:tc>
              </a:tr>
              <a:tr h="289560">
                <a:tc>
                  <a:txBody>
                    <a:bodyPr wrap="square"/>
                    <a:lstStyle/>
                    <a:p>
                      <a:pPr>
                        <a:defRPr sz="900">
                          <a:solidFill>
                            <a:srgbClr val="212529"/>
                          </a:solidFill>
                        </a:defRPr>
                      </a:pPr>
                      <a:r>
                        <a:t>Lokalus silver modelis</a:t>
                      </a:r>
                    </a:p>
                  </a:txBody>
                  <a:tcPr>
                    <a:solidFill>
                      <a:srgbClr val="FFFFFF"/>
                    </a:solidFill>
                  </a:tcPr>
                </a:tc>
                <a:tc>
                  <a:txBody>
                    <a:bodyPr wrap="square"/>
                    <a:lstStyle/>
                    <a:p>
                      <a:pPr>
                        <a:defRPr sz="900">
                          <a:solidFill>
                            <a:srgbClr val="212529"/>
                          </a:solidFill>
                        </a:defRPr>
                      </a:pPr>
                      <a:r>
                        <a:t>1 100</a:t>
                      </a:r>
                    </a:p>
                  </a:txBody>
                  <a:tcPr>
                    <a:solidFill>
                      <a:srgbClr val="FFFFFF"/>
                    </a:solidFill>
                  </a:tcPr>
                </a:tc>
                <a:tc>
                  <a:txBody>
                    <a:bodyPr wrap="square"/>
                    <a:lstStyle/>
                    <a:p>
                      <a:pPr>
                        <a:defRPr sz="900">
                          <a:solidFill>
                            <a:srgbClr val="212529"/>
                          </a:solidFill>
                        </a:defRPr>
                      </a:pPr>
                      <a:r>
                        <a:t>77,0</a:t>
                      </a:r>
                    </a:p>
                  </a:txBody>
                  <a:tcPr>
                    <a:solidFill>
                      <a:srgbClr val="FFFFFF"/>
                    </a:solidFill>
                  </a:tcPr>
                </a:tc>
              </a:tr>
              <a:tr h="289560">
                <a:tc>
                  <a:txBody>
                    <a:bodyPr wrap="square"/>
                    <a:lstStyle/>
                    <a:p>
                      <a:pPr>
                        <a:defRPr sz="900">
                          <a:solidFill>
                            <a:srgbClr val="212529"/>
                          </a:solidFill>
                        </a:defRPr>
                      </a:pPr>
                      <a:r>
                        <a:t>Gold MVP logika / vizualizacija</a:t>
                      </a:r>
                    </a:p>
                  </a:txBody>
                  <a:tcPr>
                    <a:solidFill>
                      <a:srgbClr val="F8FBFF"/>
                    </a:solidFill>
                  </a:tcPr>
                </a:tc>
                <a:tc>
                  <a:txBody>
                    <a:bodyPr wrap="square"/>
                    <a:lstStyle/>
                    <a:p>
                      <a:pPr>
                        <a:defRPr sz="900">
                          <a:solidFill>
                            <a:srgbClr val="212529"/>
                          </a:solidFill>
                        </a:defRPr>
                      </a:pPr>
                      <a:r>
                        <a:t>700</a:t>
                      </a:r>
                    </a:p>
                  </a:txBody>
                  <a:tcPr>
                    <a:solidFill>
                      <a:srgbClr val="F8FBFF"/>
                    </a:solidFill>
                  </a:tcPr>
                </a:tc>
                <a:tc>
                  <a:txBody>
                    <a:bodyPr wrap="square"/>
                    <a:lstStyle/>
                    <a:p>
                      <a:pPr>
                        <a:defRPr sz="900">
                          <a:solidFill>
                            <a:srgbClr val="212529"/>
                          </a:solidFill>
                        </a:defRPr>
                      </a:pPr>
                      <a:r>
                        <a:t>49,0</a:t>
                      </a:r>
                    </a:p>
                  </a:txBody>
                  <a:tcPr>
                    <a:solidFill>
                      <a:srgbClr val="F8FBFF"/>
                    </a:solidFill>
                  </a:tcPr>
                </a:tc>
              </a:tr>
              <a:tr h="289560">
                <a:tc>
                  <a:txBody>
                    <a:bodyPr wrap="square"/>
                    <a:lstStyle/>
                    <a:p>
                      <a:pPr>
                        <a:defRPr sz="900">
                          <a:solidFill>
                            <a:srgbClr val="212529"/>
                          </a:solidFill>
                        </a:defRPr>
                      </a:pPr>
                      <a:r>
                        <a:t>Governance / glossary / lineage</a:t>
                      </a:r>
                    </a:p>
                  </a:txBody>
                  <a:tcPr>
                    <a:solidFill>
                      <a:srgbClr val="FFFFFF"/>
                    </a:solidFill>
                  </a:tcPr>
                </a:tc>
                <a:tc>
                  <a:txBody>
                    <a:bodyPr wrap="square"/>
                    <a:lstStyle/>
                    <a:p>
                      <a:pPr>
                        <a:defRPr sz="900">
                          <a:solidFill>
                            <a:srgbClr val="212529"/>
                          </a:solidFill>
                        </a:defRPr>
                      </a:pPr>
                      <a:r>
                        <a:t>420</a:t>
                      </a:r>
                    </a:p>
                  </a:txBody>
                  <a:tcPr>
                    <a:solidFill>
                      <a:srgbClr val="FFFFFF"/>
                    </a:solidFill>
                  </a:tcPr>
                </a:tc>
                <a:tc>
                  <a:txBody>
                    <a:bodyPr wrap="square"/>
                    <a:lstStyle/>
                    <a:p>
                      <a:pPr>
                        <a:defRPr sz="900">
                          <a:solidFill>
                            <a:srgbClr val="212529"/>
                          </a:solidFill>
                        </a:defRPr>
                      </a:pPr>
                      <a:r>
                        <a:t>29,4</a:t>
                      </a:r>
                    </a:p>
                  </a:txBody>
                  <a:tcPr>
                    <a:solidFill>
                      <a:srgbClr val="FFFFFF"/>
                    </a:solidFill>
                  </a:tcPr>
                </a:tc>
              </a:tr>
              <a:tr h="289560">
                <a:tc>
                  <a:txBody>
                    <a:bodyPr wrap="square"/>
                    <a:lstStyle/>
                    <a:p>
                      <a:pPr>
                        <a:defRPr sz="900">
                          <a:solidFill>
                            <a:srgbClr val="212529"/>
                          </a:solidFill>
                        </a:defRPr>
                      </a:pPr>
                      <a:r>
                        <a:t>Veiklos ekspertai / UAT</a:t>
                      </a:r>
                    </a:p>
                  </a:txBody>
                  <a:tcPr>
                    <a:solidFill>
                      <a:srgbClr val="F8FBFF"/>
                    </a:solidFill>
                  </a:tcPr>
                </a:tc>
                <a:tc>
                  <a:txBody>
                    <a:bodyPr wrap="square"/>
                    <a:lstStyle/>
                    <a:p>
                      <a:pPr>
                        <a:defRPr sz="900">
                          <a:solidFill>
                            <a:srgbClr val="212529"/>
                          </a:solidFill>
                        </a:defRPr>
                      </a:pPr>
                      <a:r>
                        <a:t>1 500</a:t>
                      </a:r>
                    </a:p>
                  </a:txBody>
                  <a:tcPr>
                    <a:solidFill>
                      <a:srgbClr val="F8FBFF"/>
                    </a:solidFill>
                  </a:tcPr>
                </a:tc>
                <a:tc>
                  <a:txBody>
                    <a:bodyPr wrap="square"/>
                    <a:lstStyle/>
                    <a:p>
                      <a:pPr>
                        <a:defRPr sz="900">
                          <a:solidFill>
                            <a:srgbClr val="212529"/>
                          </a:solidFill>
                        </a:defRPr>
                      </a:pPr>
                      <a:r>
                        <a:t>105,0</a:t>
                      </a:r>
                    </a:p>
                  </a:txBody>
                  <a:tcPr>
                    <a:solidFill>
                      <a:srgbClr val="F8FBFF"/>
                    </a:solidFill>
                  </a:tcPr>
                </a:tc>
              </a:tr>
              <a:tr h="289560">
                <a:tc>
                  <a:txBody>
                    <a:bodyPr wrap="square"/>
                    <a:lstStyle/>
                    <a:p>
                      <a:pPr>
                        <a:defRPr sz="900">
                          <a:solidFill>
                            <a:srgbClr val="212529"/>
                          </a:solidFill>
                        </a:defRPr>
                      </a:pPr>
                      <a:r>
                        <a:t>Architektūra / PM / stabilizacija</a:t>
                      </a:r>
                    </a:p>
                  </a:txBody>
                  <a:tcPr>
                    <a:solidFill>
                      <a:srgbClr val="FFFFFF"/>
                    </a:solidFill>
                  </a:tcPr>
                </a:tc>
                <a:tc>
                  <a:txBody>
                    <a:bodyPr wrap="square"/>
                    <a:lstStyle/>
                    <a:p>
                      <a:pPr>
                        <a:defRPr sz="900">
                          <a:solidFill>
                            <a:srgbClr val="212529"/>
                          </a:solidFill>
                        </a:defRPr>
                      </a:pPr>
                      <a:r>
                        <a:t>780</a:t>
                      </a:r>
                    </a:p>
                  </a:txBody>
                  <a:tcPr>
                    <a:solidFill>
                      <a:srgbClr val="FFFFFF"/>
                    </a:solidFill>
                  </a:tcPr>
                </a:tc>
                <a:tc>
                  <a:txBody>
                    <a:bodyPr wrap="square"/>
                    <a:lstStyle/>
                    <a:p>
                      <a:pPr>
                        <a:defRPr sz="900">
                          <a:solidFill>
                            <a:srgbClr val="212529"/>
                          </a:solidFill>
                        </a:defRPr>
                      </a:pPr>
                      <a:r>
                        <a:t>54,6</a:t>
                      </a:r>
                    </a:p>
                  </a:txBody>
                  <a:tcPr>
                    <a:solidFill>
                      <a:srgbClr val="FFFFFF"/>
                    </a:solidFill>
                  </a:tcPr>
                </a:tc>
              </a:tr>
              <a:tr h="289560">
                <a:tc>
                  <a:txBody>
                    <a:bodyPr wrap="square"/>
                    <a:lstStyle/>
                    <a:p>
                      <a:pPr>
                        <a:defRPr sz="900">
                          <a:solidFill>
                            <a:srgbClr val="212529"/>
                          </a:solidFill>
                        </a:defRPr>
                      </a:pPr>
                      <a:r>
                        <a:t>Rezervas (~15%)</a:t>
                      </a:r>
                    </a:p>
                  </a:txBody>
                  <a:tcPr>
                    <a:solidFill>
                      <a:srgbClr val="F8FBFF"/>
                    </a:solidFill>
                  </a:tcPr>
                </a:tc>
                <a:tc>
                  <a:txBody>
                    <a:bodyPr wrap="square"/>
                    <a:lstStyle/>
                    <a:p>
                      <a:pPr>
                        <a:defRPr sz="900">
                          <a:solidFill>
                            <a:srgbClr val="212529"/>
                          </a:solidFill>
                        </a:defRPr>
                      </a:pPr>
                      <a:r>
                        <a:t>-</a:t>
                      </a:r>
                    </a:p>
                  </a:txBody>
                  <a:tcPr>
                    <a:solidFill>
                      <a:srgbClr val="F8FBFF"/>
                    </a:solidFill>
                  </a:tcPr>
                </a:tc>
                <a:tc>
                  <a:txBody>
                    <a:bodyPr wrap="square"/>
                    <a:lstStyle/>
                    <a:p>
                      <a:pPr>
                        <a:defRPr sz="900">
                          <a:solidFill>
                            <a:srgbClr val="212529"/>
                          </a:solidFill>
                        </a:defRPr>
                      </a:pPr>
                      <a:r>
                        <a:t>78,0</a:t>
                      </a:r>
                    </a:p>
                  </a:txBody>
                  <a:tcPr>
                    <a:solidFill>
                      <a:srgbClr val="F8FBFF"/>
                    </a:solidFill>
                  </a:tcPr>
                </a:tc>
              </a:tr>
            </a:tbl>
          </a:graphicData>
        </a:graphic>
      </p:graphicFrame>
      <p:sp>
        <p:nvSpPr>
          <p:cNvPr id="15" name="TextBox 14"/>
          <p:cNvSpPr txBox="1"/>
          <p:nvPr/>
        </p:nvSpPr>
        <p:spPr>
          <a:xfrm>
            <a:off x="6400800" y="4919472"/>
            <a:ext cx="5120640" cy="320040"/>
          </a:xfrm>
          <a:prstGeom prst="rect">
            <a:avLst/>
          </a:prstGeom>
          <a:noFill/>
        </p:spPr>
        <p:txBody>
          <a:bodyPr wrap="none">
            <a:spAutoFit/>
          </a:bodyPr>
          <a:lstStyle/>
          <a:p>
            <a:pPr>
              <a:defRPr sz="1200" b="1">
                <a:solidFill>
                  <a:srgbClr val="C0392B"/>
                </a:solidFill>
              </a:defRPr>
            </a:pPr>
            <a:r>
              <a:t>Trukmė: ~7–9 mėn.</a:t>
            </a:r>
          </a:p>
        </p:txBody>
      </p:sp>
      <p:sp>
        <p:nvSpPr>
          <p:cNvPr id="16" name="Rounded Rectangle 15"/>
          <p:cNvSpPr/>
          <p:nvPr/>
        </p:nvSpPr>
        <p:spPr>
          <a:xfrm>
            <a:off x="411480" y="5440680"/>
            <a:ext cx="11384280" cy="86868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69280"/>
            <a:ext cx="10972800" cy="411480"/>
          </a:xfrm>
          <a:prstGeom prst="rect">
            <a:avLst/>
          </a:prstGeom>
          <a:noFill/>
        </p:spPr>
        <p:txBody>
          <a:bodyPr wrap="none">
            <a:spAutoFit/>
          </a:bodyPr>
          <a:lstStyle/>
          <a:p>
            <a:pPr>
              <a:defRPr sz="1200" b="1">
                <a:solidFill>
                  <a:srgbClr val="0B2B54"/>
                </a:solidFill>
              </a:defRPr>
            </a:pPr>
            <a:r>
              <a:t>Skirtumas: ~220 kEUR mažesnis kaštas | ~2 660 val. mažiau | ~2–3 mėn. greitesnis paleidimas | mažesnė klaidų ir perdirbimo rizika</a:t>
            </a:r>
          </a:p>
        </p:txBody>
      </p:sp>
      <p:sp>
        <p:nvSpPr>
          <p:cNvPr id="18" name="TextBox 17"/>
          <p:cNvSpPr txBox="1"/>
          <p:nvPr/>
        </p:nvSpPr>
        <p:spPr>
          <a:xfrm>
            <a:off x="640080" y="6327648"/>
            <a:ext cx="10972800" cy="228600"/>
          </a:xfrm>
          <a:prstGeom prst="rect">
            <a:avLst/>
          </a:prstGeom>
          <a:noFill/>
        </p:spPr>
        <p:txBody>
          <a:bodyPr wrap="none">
            <a:spAutoFit/>
          </a:bodyPr>
          <a:lstStyle/>
          <a:p>
            <a:pPr>
              <a:defRPr sz="800" b="0">
                <a:solidFill>
                  <a:srgbClr val="5A626C"/>
                </a:solidFill>
              </a:defRPr>
            </a:pPr>
            <a:r>
              <a:t>Pastaba: po EENĮ minimi produktai/modeliai (pvz., Generacijų žemėlapis, Laisvų galių žemėlapis, Vartotojų profiliavimas, Išmanaus tinklo defektavimas ir kt.) yra hipotetiniai, šiuo metu nepatvirtinti ir nesuplanuoti. Jie naudojami Tinklo duomenų modelio vertės ir CBA logikos iliustravimui.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Po EENĮ turime 3 realias alternatyvas: tęsti projektiniu būdu, augti nuosekliai arba iki 2030 siekti pilno TDM</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6</a:t>
            </a:r>
          </a:p>
        </p:txBody>
      </p:sp>
      <p:graphicFrame>
        <p:nvGraphicFramePr>
          <p:cNvPr id="6" name="Table 5"/>
          <p:cNvGraphicFramePr>
            <a:graphicFrameLocks noGrp="1"/>
          </p:cNvGraphicFramePr>
          <p:nvPr/>
        </p:nvGraphicFramePr>
        <p:xfrm>
          <a:off x="411480" y="1005840"/>
          <a:ext cx="11384280" cy="2971800"/>
        </p:xfrm>
        <a:graphic>
          <a:graphicData uri="http://schemas.openxmlformats.org/drawingml/2006/table">
            <a:tbl>
              <a:tblPr firstRow="1" bandRow="1">
                <a:tableStyleId>{5C22544A-7EE6-4342-B048-85BDC9FD1C3A}</a:tableStyleId>
              </a:tblPr>
              <a:tblGrid>
                <a:gridCol w="2846070"/>
                <a:gridCol w="2846070"/>
                <a:gridCol w="2846070"/>
                <a:gridCol w="2846070"/>
              </a:tblGrid>
              <a:tr h="742950">
                <a:tc>
                  <a:txBody>
                    <a:bodyPr wrap="square"/>
                    <a:lstStyle/>
                    <a:p>
                      <a:pPr>
                        <a:defRPr sz="1000" b="1">
                          <a:solidFill>
                            <a:srgbClr val="FFFFFF"/>
                          </a:solidFill>
                        </a:defRPr>
                      </a:pPr>
                      <a:r>
                        <a:t>Scenarijus</a:t>
                      </a:r>
                    </a:p>
                  </a:txBody>
                  <a:tcPr>
                    <a:solidFill>
                      <a:srgbClr val="0B2B54"/>
                    </a:solidFill>
                  </a:tcPr>
                </a:tc>
                <a:tc>
                  <a:txBody>
                    <a:bodyPr wrap="square"/>
                    <a:lstStyle/>
                    <a:p>
                      <a:pPr>
                        <a:defRPr sz="1000" b="1">
                          <a:solidFill>
                            <a:srgbClr val="FFFFFF"/>
                          </a:solidFill>
                        </a:defRPr>
                      </a:pPr>
                      <a:r>
                        <a:t>Turinys</a:t>
                      </a:r>
                    </a:p>
                  </a:txBody>
                  <a:tcPr>
                    <a:solidFill>
                      <a:srgbClr val="0B2B54"/>
                    </a:solidFill>
                  </a:tcPr>
                </a:tc>
                <a:tc>
                  <a:txBody>
                    <a:bodyPr wrap="square"/>
                    <a:lstStyle/>
                    <a:p>
                      <a:pPr>
                        <a:defRPr sz="1000" b="1">
                          <a:solidFill>
                            <a:srgbClr val="FFFFFF"/>
                          </a:solidFill>
                        </a:defRPr>
                      </a:pPr>
                      <a:r>
                        <a:t>2030 rezultatas</a:t>
                      </a:r>
                    </a:p>
                  </a:txBody>
                  <a:tcPr>
                    <a:solidFill>
                      <a:srgbClr val="0B2B54"/>
                    </a:solidFill>
                  </a:tcPr>
                </a:tc>
                <a:tc>
                  <a:txBody>
                    <a:bodyPr wrap="square"/>
                    <a:lstStyle/>
                    <a:p>
                      <a:pPr>
                        <a:defRPr sz="1000" b="1">
                          <a:solidFill>
                            <a:srgbClr val="FFFFFF"/>
                          </a:solidFill>
                        </a:defRPr>
                      </a:pPr>
                      <a:r>
                        <a:t>Vertinimas</a:t>
                      </a:r>
                    </a:p>
                  </a:txBody>
                  <a:tcPr>
                    <a:solidFill>
                      <a:srgbClr val="0B2B54"/>
                    </a:solidFill>
                  </a:tcPr>
                </a:tc>
              </a:tr>
              <a:tr h="742950">
                <a:tc>
                  <a:txBody>
                    <a:bodyPr wrap="square"/>
                    <a:lstStyle/>
                    <a:p>
                      <a:pPr>
                        <a:defRPr sz="1000">
                          <a:solidFill>
                            <a:srgbClr val="212529"/>
                          </a:solidFill>
                        </a:defRPr>
                      </a:pPr>
                      <a:r>
                        <a:t>1. Stabdom reusable plėtrą</a:t>
                      </a:r>
                    </a:p>
                  </a:txBody>
                  <a:tcPr>
                    <a:solidFill>
                      <a:srgbClr val="FFFFFF"/>
                    </a:solidFill>
                  </a:tcPr>
                </a:tc>
                <a:tc>
                  <a:txBody>
                    <a:bodyPr wrap="square"/>
                    <a:lstStyle/>
                    <a:p>
                      <a:pPr>
                        <a:defRPr sz="1000">
                          <a:solidFill>
                            <a:srgbClr val="212529"/>
                          </a:solidFill>
                        </a:defRPr>
                      </a:pPr>
                      <a:r>
                        <a:t>Kiekvienas produktas daromas beveik atskirai</a:t>
                      </a:r>
                    </a:p>
                  </a:txBody>
                  <a:tcPr>
                    <a:solidFill>
                      <a:srgbClr val="FFFFFF"/>
                    </a:solidFill>
                  </a:tcPr>
                </a:tc>
                <a:tc>
                  <a:txBody>
                    <a:bodyPr wrap="square"/>
                    <a:lstStyle/>
                    <a:p>
                      <a:pPr>
                        <a:defRPr sz="1000">
                          <a:solidFill>
                            <a:srgbClr val="212529"/>
                          </a:solidFill>
                        </a:defRPr>
                      </a:pPr>
                      <a:r>
                        <a:t>4–5 izoliuoti produktai, ribotas reuse</a:t>
                      </a:r>
                    </a:p>
                  </a:txBody>
                  <a:tcPr>
                    <a:solidFill>
                      <a:srgbClr val="FFFFFF"/>
                    </a:solidFill>
                  </a:tcPr>
                </a:tc>
                <a:tc>
                  <a:txBody>
                    <a:bodyPr wrap="square"/>
                    <a:lstStyle/>
                    <a:p>
                      <a:pPr>
                        <a:defRPr sz="1000">
                          <a:solidFill>
                            <a:srgbClr val="212529"/>
                          </a:solidFill>
                        </a:defRPr>
                      </a:pPr>
                      <a:r>
                        <a:t>Nerekomenduojama</a:t>
                      </a:r>
                    </a:p>
                  </a:txBody>
                  <a:tcPr>
                    <a:solidFill>
                      <a:srgbClr val="FFFFFF"/>
                    </a:solidFill>
                  </a:tcPr>
                </a:tc>
              </a:tr>
              <a:tr h="742950">
                <a:tc>
                  <a:txBody>
                    <a:bodyPr wrap="square"/>
                    <a:lstStyle/>
                    <a:p>
                      <a:pPr>
                        <a:defRPr sz="1000">
                          <a:solidFill>
                            <a:srgbClr val="212529"/>
                          </a:solidFill>
                        </a:defRPr>
                      </a:pPr>
                      <a:r>
                        <a:t>2. Laikom 3+1 ESO DIK ir adekvatų GPC bronze</a:t>
                      </a:r>
                    </a:p>
                  </a:txBody>
                  <a:tcPr>
                    <a:solidFill>
                      <a:srgbClr val="F8FBFF"/>
                    </a:solidFill>
                  </a:tcPr>
                </a:tc>
                <a:tc>
                  <a:txBody>
                    <a:bodyPr wrap="square"/>
                    <a:lstStyle/>
                    <a:p>
                      <a:pPr>
                        <a:defRPr sz="1000">
                          <a:solidFill>
                            <a:srgbClr val="212529"/>
                          </a:solidFill>
                        </a:defRPr>
                      </a:pPr>
                      <a:r>
                        <a:t>Nuosekliai auginamas reusable TDM nuo EENĮ artimų produktų</a:t>
                      </a:r>
                    </a:p>
                  </a:txBody>
                  <a:tcPr>
                    <a:solidFill>
                      <a:srgbClr val="F8FBFF"/>
                    </a:solidFill>
                  </a:tcPr>
                </a:tc>
                <a:tc>
                  <a:txBody>
                    <a:bodyPr wrap="square"/>
                    <a:lstStyle/>
                    <a:p>
                      <a:pPr>
                        <a:defRPr sz="1000">
                          <a:solidFill>
                            <a:srgbClr val="212529"/>
                          </a:solidFill>
                        </a:defRPr>
                      </a:pPr>
                      <a:r>
                        <a:t>45–55% TDM, 4–5 produktai ant reuse</a:t>
                      </a:r>
                    </a:p>
                  </a:txBody>
                  <a:tcPr>
                    <a:solidFill>
                      <a:srgbClr val="F8FBFF"/>
                    </a:solidFill>
                  </a:tcPr>
                </a:tc>
                <a:tc>
                  <a:txBody>
                    <a:bodyPr wrap="square"/>
                    <a:lstStyle/>
                    <a:p>
                      <a:pPr>
                        <a:defRPr sz="1000">
                          <a:solidFill>
                            <a:srgbClr val="212529"/>
                          </a:solidFill>
                        </a:defRPr>
                      </a:pPr>
                      <a:r>
                        <a:t>Rekomenduojama</a:t>
                      </a:r>
                    </a:p>
                  </a:txBody>
                  <a:tcPr>
                    <a:solidFill>
                      <a:srgbClr val="F8FBFF"/>
                    </a:solidFill>
                  </a:tcPr>
                </a:tc>
              </a:tr>
              <a:tr h="742950">
                <a:tc>
                  <a:txBody>
                    <a:bodyPr wrap="square"/>
                    <a:lstStyle/>
                    <a:p>
                      <a:pPr>
                        <a:defRPr sz="1000">
                          <a:solidFill>
                            <a:srgbClr val="212529"/>
                          </a:solidFill>
                        </a:defRPr>
                      </a:pPr>
                      <a:r>
                        <a:t>3. Iki 2030 pilnai sukuriam TDM</a:t>
                      </a:r>
                    </a:p>
                  </a:txBody>
                  <a:tcPr>
                    <a:solidFill>
                      <a:srgbClr val="FFFFFF"/>
                    </a:solidFill>
                  </a:tcPr>
                </a:tc>
                <a:tc>
                  <a:txBody>
                    <a:bodyPr wrap="square"/>
                    <a:lstStyle/>
                    <a:p>
                      <a:pPr>
                        <a:defRPr sz="1000">
                          <a:solidFill>
                            <a:srgbClr val="212529"/>
                          </a:solidFill>
                        </a:defRPr>
                      </a:pPr>
                      <a:r>
                        <a:t>Didesnė programa, didesnės komandos, platesnis silver/gold tempas</a:t>
                      </a:r>
                    </a:p>
                  </a:txBody>
                  <a:tcPr>
                    <a:solidFill>
                      <a:srgbClr val="FFFFFF"/>
                    </a:solidFill>
                  </a:tcPr>
                </a:tc>
                <a:tc>
                  <a:txBody>
                    <a:bodyPr wrap="square"/>
                    <a:lstStyle/>
                    <a:p>
                      <a:pPr>
                        <a:defRPr sz="1000">
                          <a:solidFill>
                            <a:srgbClr val="212529"/>
                          </a:solidFill>
                        </a:defRPr>
                      </a:pPr>
                      <a:r>
                        <a:t>100% TDM, 7 iš 10 produktų</a:t>
                      </a:r>
                    </a:p>
                  </a:txBody>
                  <a:tcPr>
                    <a:solidFill>
                      <a:srgbClr val="FFFFFF"/>
                    </a:solidFill>
                  </a:tcPr>
                </a:tc>
                <a:tc>
                  <a:txBody>
                    <a:bodyPr wrap="square"/>
                    <a:lstStyle/>
                    <a:p>
                      <a:pPr>
                        <a:defRPr sz="1000">
                          <a:solidFill>
                            <a:srgbClr val="212529"/>
                          </a:solidFill>
                        </a:defRPr>
                      </a:pPr>
                      <a:r>
                        <a:t>Strateginis variantas</a:t>
                      </a:r>
                    </a:p>
                  </a:txBody>
                  <a:tcPr>
                    <a:solidFill>
                      <a:srgbClr val="FFFFFF"/>
                    </a:solidFill>
                  </a:tcPr>
                </a:tc>
              </a:tr>
            </a:tbl>
          </a:graphicData>
        </a:graphic>
      </p:graphicFrame>
      <p:sp>
        <p:nvSpPr>
          <p:cNvPr id="7" name="Rounded Rectangle 6"/>
          <p:cNvSpPr/>
          <p:nvPr/>
        </p:nvSpPr>
        <p:spPr>
          <a:xfrm>
            <a:off x="411480" y="4160520"/>
            <a:ext cx="3566160" cy="1645920"/>
          </a:xfrm>
          <a:prstGeom prst="roundRect">
            <a:avLst/>
          </a:prstGeom>
          <a:solidFill>
            <a:srgbClr val="FFFFFF"/>
          </a:solidFill>
          <a:ln w="1524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C0392B"/>
                </a:solidFill>
              </a:defRPr>
            </a:pPr>
            <a:r>
              <a:t>Scenarijus 1</a:t>
            </a:r>
          </a:p>
          <a:p>
            <a:pPr>
              <a:defRPr sz="1200">
                <a:solidFill>
                  <a:srgbClr val="212529"/>
                </a:solidFill>
              </a:defRPr>
            </a:pPr>
            <a:r>
              <a:t>Pigesnis centre,</a:t>
            </a:r>
            <a:br/>
            <a:r>
              <a:t>brangesnis portfelyje</a:t>
            </a:r>
          </a:p>
        </p:txBody>
      </p:sp>
      <p:sp>
        <p:nvSpPr>
          <p:cNvPr id="8" name="Rounded Rectangle 7"/>
          <p:cNvSpPr/>
          <p:nvPr/>
        </p:nvSpPr>
        <p:spPr>
          <a:xfrm>
            <a:off x="4297680" y="4160520"/>
            <a:ext cx="3566160" cy="1645920"/>
          </a:xfrm>
          <a:prstGeom prst="roundRect">
            <a:avLst/>
          </a:prstGeom>
          <a:solidFill>
            <a:srgbClr val="FFFFFF"/>
          </a:solidFill>
          <a:ln w="1524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228B22"/>
                </a:solidFill>
              </a:defRPr>
            </a:pPr>
            <a:r>
              <a:t>Scenarijus 2</a:t>
            </a:r>
          </a:p>
          <a:p>
            <a:pPr>
              <a:defRPr sz="1200">
                <a:solidFill>
                  <a:srgbClr val="212529"/>
                </a:solidFill>
              </a:defRPr>
            </a:pPr>
            <a:r>
              <a:t>Geriausias vertės /</a:t>
            </a:r>
            <a:br/>
            <a:r>
              <a:t> rizikos balansas</a:t>
            </a:r>
          </a:p>
        </p:txBody>
      </p:sp>
      <p:sp>
        <p:nvSpPr>
          <p:cNvPr id="9" name="Rounded Rectangle 8"/>
          <p:cNvSpPr/>
          <p:nvPr/>
        </p:nvSpPr>
        <p:spPr>
          <a:xfrm>
            <a:off x="8183879" y="4160520"/>
            <a:ext cx="3566160" cy="1645920"/>
          </a:xfrm>
          <a:prstGeom prst="roundRect">
            <a:avLst/>
          </a:prstGeom>
          <a:solidFill>
            <a:srgbClr val="FFFFFF"/>
          </a:solidFill>
          <a:ln w="1524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E67E22"/>
                </a:solidFill>
              </a:defRPr>
            </a:pPr>
            <a:r>
              <a:t>Scenarijus 3</a:t>
            </a:r>
          </a:p>
          <a:p>
            <a:pPr>
              <a:defRPr sz="1200">
                <a:solidFill>
                  <a:srgbClr val="212529"/>
                </a:solidFill>
              </a:defRPr>
            </a:pPr>
            <a:r>
              <a:t>Didžiausia vertė,</a:t>
            </a:r>
            <a:br/>
            <a:r>
              <a:t> bet didesnė vykdymo rizika</a:t>
            </a:r>
          </a:p>
        </p:txBody>
      </p:sp>
      <p:sp>
        <p:nvSpPr>
          <p:cNvPr id="10" name="Rounded Rectangle 9"/>
          <p:cNvSpPr/>
          <p:nvPr/>
        </p:nvSpPr>
        <p:spPr>
          <a:xfrm>
            <a:off x="411480" y="5897880"/>
            <a:ext cx="11384280" cy="68580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6089904"/>
            <a:ext cx="10881360" cy="320040"/>
          </a:xfrm>
          <a:prstGeom prst="rect">
            <a:avLst/>
          </a:prstGeom>
          <a:noFill/>
        </p:spPr>
        <p:txBody>
          <a:bodyPr wrap="none">
            <a:spAutoFit/>
          </a:bodyPr>
          <a:lstStyle/>
          <a:p>
            <a:pPr>
              <a:defRPr sz="1100" b="1">
                <a:solidFill>
                  <a:srgbClr val="0B2B54"/>
                </a:solidFill>
              </a:defRPr>
            </a:pPr>
            <a:r>
              <a:t>Esminė logika: 1 scenarijus atrodo pigesnis trumpuoju laikotarpiu, tačiau sistemingai didina pakartotinius kaštus ir duomenų riziką.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TDM nauda yra ne vien mažesnis build kaštas – didelė dalis vertės atsiranda per pažįstamus duomenis, mažiau klaidų ir mažesnį palaikymo kaštą</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7</a:t>
            </a:r>
          </a:p>
        </p:txBody>
      </p:sp>
      <p:graphicFrame>
        <p:nvGraphicFramePr>
          <p:cNvPr id="6" name="Table 5"/>
          <p:cNvGraphicFramePr>
            <a:graphicFrameLocks noGrp="1"/>
          </p:cNvGraphicFramePr>
          <p:nvPr/>
        </p:nvGraphicFramePr>
        <p:xfrm>
          <a:off x="411480" y="987552"/>
          <a:ext cx="7315200" cy="2926080"/>
        </p:xfrm>
        <a:graphic>
          <a:graphicData uri="http://schemas.openxmlformats.org/drawingml/2006/table">
            <a:tbl>
              <a:tblPr firstRow="1" bandRow="1">
                <a:tableStyleId>{5C22544A-7EE6-4342-B048-85BDC9FD1C3A}</a:tableStyleId>
              </a:tblPr>
              <a:tblGrid>
                <a:gridCol w="2438400"/>
                <a:gridCol w="2438400"/>
                <a:gridCol w="2438400"/>
              </a:tblGrid>
              <a:tr h="487680">
                <a:tc>
                  <a:txBody>
                    <a:bodyPr wrap="square"/>
                    <a:lstStyle/>
                    <a:p>
                      <a:pPr>
                        <a:defRPr sz="1000" b="1">
                          <a:solidFill>
                            <a:srgbClr val="FFFFFF"/>
                          </a:solidFill>
                        </a:defRPr>
                      </a:pPr>
                      <a:r>
                        <a:t>Naudos tipas</a:t>
                      </a:r>
                    </a:p>
                  </a:txBody>
                  <a:tcPr>
                    <a:solidFill>
                      <a:srgbClr val="0B2B54"/>
                    </a:solidFill>
                  </a:tcPr>
                </a:tc>
                <a:tc>
                  <a:txBody>
                    <a:bodyPr wrap="square"/>
                    <a:lstStyle/>
                    <a:p>
                      <a:pPr>
                        <a:defRPr sz="1000" b="1">
                          <a:solidFill>
                            <a:srgbClr val="FFFFFF"/>
                          </a:solidFill>
                        </a:defRPr>
                      </a:pPr>
                      <a:r>
                        <a:t>Finansinė išraiška iki 2030</a:t>
                      </a:r>
                    </a:p>
                  </a:txBody>
                  <a:tcPr>
                    <a:solidFill>
                      <a:srgbClr val="0B2B54"/>
                    </a:solidFill>
                  </a:tcPr>
                </a:tc>
                <a:tc>
                  <a:txBody>
                    <a:bodyPr wrap="square"/>
                    <a:lstStyle/>
                    <a:p>
                      <a:pPr>
                        <a:defRPr sz="1000" b="1">
                          <a:solidFill>
                            <a:srgbClr val="FFFFFF"/>
                          </a:solidFill>
                        </a:defRPr>
                      </a:pPr>
                      <a:r>
                        <a:t>Kaip skaičiuota</a:t>
                      </a:r>
                    </a:p>
                  </a:txBody>
                  <a:tcPr>
                    <a:solidFill>
                      <a:srgbClr val="0B2B54"/>
                    </a:solidFill>
                  </a:tcPr>
                </a:tc>
              </a:tr>
              <a:tr h="487680">
                <a:tc>
                  <a:txBody>
                    <a:bodyPr wrap="square"/>
                    <a:lstStyle/>
                    <a:p>
                      <a:pPr>
                        <a:defRPr sz="1000">
                          <a:solidFill>
                            <a:srgbClr val="212529"/>
                          </a:solidFill>
                        </a:defRPr>
                      </a:pPr>
                      <a:r>
                        <a:t>Išvengti pakartotiniai build kaštai</a:t>
                      </a:r>
                    </a:p>
                  </a:txBody>
                  <a:tcPr>
                    <a:solidFill>
                      <a:srgbClr val="FFFFFF"/>
                    </a:solidFill>
                  </a:tcPr>
                </a:tc>
                <a:tc>
                  <a:txBody>
                    <a:bodyPr wrap="square"/>
                    <a:lstStyle/>
                    <a:p>
                      <a:pPr>
                        <a:defRPr sz="1000">
                          <a:solidFill>
                            <a:srgbClr val="212529"/>
                          </a:solidFill>
                        </a:defRPr>
                      </a:pPr>
                      <a:r>
                        <a:t>760 kEUR</a:t>
                      </a:r>
                    </a:p>
                  </a:txBody>
                  <a:tcPr>
                    <a:solidFill>
                      <a:srgbClr val="FFFFFF"/>
                    </a:solidFill>
                  </a:tcPr>
                </a:tc>
                <a:tc>
                  <a:txBody>
                    <a:bodyPr wrap="square"/>
                    <a:lstStyle/>
                    <a:p>
                      <a:pPr>
                        <a:defRPr sz="1000">
                          <a:solidFill>
                            <a:srgbClr val="212529"/>
                          </a:solidFill>
                        </a:defRPr>
                      </a:pPr>
                      <a:r>
                        <a:t>4 hipotetiniai produktai × vid. ~190 kEUR reuse efektas</a:t>
                      </a:r>
                    </a:p>
                  </a:txBody>
                  <a:tcPr>
                    <a:solidFill>
                      <a:srgbClr val="FFFFFF"/>
                    </a:solidFill>
                  </a:tcPr>
                </a:tc>
              </a:tr>
              <a:tr h="487680">
                <a:tc>
                  <a:txBody>
                    <a:bodyPr wrap="square"/>
                    <a:lstStyle/>
                    <a:p>
                      <a:pPr>
                        <a:defRPr sz="1000">
                          <a:solidFill>
                            <a:srgbClr val="212529"/>
                          </a:solidFill>
                        </a:defRPr>
                      </a:pPr>
                      <a:r>
                        <a:t>Mažesni discovery / onboarding kaštai</a:t>
                      </a:r>
                    </a:p>
                  </a:txBody>
                  <a:tcPr>
                    <a:solidFill>
                      <a:srgbClr val="F8FBFF"/>
                    </a:solidFill>
                  </a:tcPr>
                </a:tc>
                <a:tc>
                  <a:txBody>
                    <a:bodyPr wrap="square"/>
                    <a:lstStyle/>
                    <a:p>
                      <a:pPr>
                        <a:defRPr sz="1000">
                          <a:solidFill>
                            <a:srgbClr val="212529"/>
                          </a:solidFill>
                        </a:defRPr>
                      </a:pPr>
                      <a:r>
                        <a:t>210 kEUR</a:t>
                      </a:r>
                    </a:p>
                  </a:txBody>
                  <a:tcPr>
                    <a:solidFill>
                      <a:srgbClr val="F8FBFF"/>
                    </a:solidFill>
                  </a:tcPr>
                </a:tc>
                <a:tc>
                  <a:txBody>
                    <a:bodyPr wrap="square"/>
                    <a:lstStyle/>
                    <a:p>
                      <a:pPr>
                        <a:defRPr sz="1000">
                          <a:solidFill>
                            <a:srgbClr val="212529"/>
                          </a:solidFill>
                        </a:defRPr>
                      </a:pPr>
                      <a:r>
                        <a:t>mažiau kartotinio source analysis, glossary, mapping, learning curve</a:t>
                      </a:r>
                    </a:p>
                  </a:txBody>
                  <a:tcPr>
                    <a:solidFill>
                      <a:srgbClr val="F8FBFF"/>
                    </a:solidFill>
                  </a:tcPr>
                </a:tc>
              </a:tr>
              <a:tr h="487680">
                <a:tc>
                  <a:txBody>
                    <a:bodyPr wrap="square"/>
                    <a:lstStyle/>
                    <a:p>
                      <a:pPr>
                        <a:defRPr sz="1000">
                          <a:solidFill>
                            <a:srgbClr val="212529"/>
                          </a:solidFill>
                        </a:defRPr>
                      </a:pPr>
                      <a:r>
                        <a:t>Mažesni DQ / reconciliation / rework kaštai</a:t>
                      </a:r>
                    </a:p>
                  </a:txBody>
                  <a:tcPr>
                    <a:solidFill>
                      <a:srgbClr val="FFFFFF"/>
                    </a:solidFill>
                  </a:tcPr>
                </a:tc>
                <a:tc>
                  <a:txBody>
                    <a:bodyPr wrap="square"/>
                    <a:lstStyle/>
                    <a:p>
                      <a:pPr>
                        <a:defRPr sz="1000">
                          <a:solidFill>
                            <a:srgbClr val="212529"/>
                          </a:solidFill>
                        </a:defRPr>
                      </a:pPr>
                      <a:r>
                        <a:t>280 kEUR</a:t>
                      </a:r>
                    </a:p>
                  </a:txBody>
                  <a:tcPr>
                    <a:solidFill>
                      <a:srgbClr val="FFFFFF"/>
                    </a:solidFill>
                  </a:tcPr>
                </a:tc>
                <a:tc>
                  <a:txBody>
                    <a:bodyPr wrap="square"/>
                    <a:lstStyle/>
                    <a:p>
                      <a:pPr>
                        <a:defRPr sz="1000">
                          <a:solidFill>
                            <a:srgbClr val="212529"/>
                          </a:solidFill>
                        </a:defRPr>
                      </a:pPr>
                      <a:r>
                        <a:t>mažiau rankinio sutikrinimo ir perdirbimo</a:t>
                      </a:r>
                    </a:p>
                  </a:txBody>
                  <a:tcPr>
                    <a:solidFill>
                      <a:srgbClr val="FFFFFF"/>
                    </a:solidFill>
                  </a:tcPr>
                </a:tc>
              </a:tr>
              <a:tr h="487680">
                <a:tc>
                  <a:txBody>
                    <a:bodyPr wrap="square"/>
                    <a:lstStyle/>
                    <a:p>
                      <a:pPr>
                        <a:defRPr sz="1000">
                          <a:solidFill>
                            <a:srgbClr val="212529"/>
                          </a:solidFill>
                        </a:defRPr>
                      </a:pPr>
                      <a:r>
                        <a:t>Mažesni palaikymo / incidentų kaštai</a:t>
                      </a:r>
                    </a:p>
                  </a:txBody>
                  <a:tcPr>
                    <a:solidFill>
                      <a:srgbClr val="F8FBFF"/>
                    </a:solidFill>
                  </a:tcPr>
                </a:tc>
                <a:tc>
                  <a:txBody>
                    <a:bodyPr wrap="square"/>
                    <a:lstStyle/>
                    <a:p>
                      <a:pPr>
                        <a:defRPr sz="1000">
                          <a:solidFill>
                            <a:srgbClr val="212529"/>
                          </a:solidFill>
                        </a:defRPr>
                      </a:pPr>
                      <a:r>
                        <a:t>150 kEUR</a:t>
                      </a:r>
                    </a:p>
                  </a:txBody>
                  <a:tcPr>
                    <a:solidFill>
                      <a:srgbClr val="F8FBFF"/>
                    </a:solidFill>
                  </a:tcPr>
                </a:tc>
                <a:tc>
                  <a:txBody>
                    <a:bodyPr wrap="square"/>
                    <a:lstStyle/>
                    <a:p>
                      <a:pPr>
                        <a:defRPr sz="1000">
                          <a:solidFill>
                            <a:srgbClr val="212529"/>
                          </a:solidFill>
                        </a:defRPr>
                      </a:pPr>
                      <a:r>
                        <a:t>shared sluoksniai, mažiau workaround’ų ir incidentų analizės</a:t>
                      </a:r>
                    </a:p>
                  </a:txBody>
                  <a:tcPr>
                    <a:solidFill>
                      <a:srgbClr val="F8FBFF"/>
                    </a:solidFill>
                  </a:tcPr>
                </a:tc>
              </a:tr>
              <a:tr h="487680">
                <a:tc>
                  <a:txBody>
                    <a:bodyPr wrap="square"/>
                    <a:lstStyle/>
                    <a:p>
                      <a:pPr>
                        <a:defRPr sz="1000">
                          <a:solidFill>
                            <a:srgbClr val="212529"/>
                          </a:solidFill>
                        </a:defRPr>
                      </a:pPr>
                      <a:r>
                        <a:t>Iš viso konservatyvi platforminė nauda</a:t>
                      </a:r>
                    </a:p>
                  </a:txBody>
                  <a:tcPr>
                    <a:solidFill>
                      <a:srgbClr val="FFFFFF"/>
                    </a:solidFill>
                  </a:tcPr>
                </a:tc>
                <a:tc>
                  <a:txBody>
                    <a:bodyPr wrap="square"/>
                    <a:lstStyle/>
                    <a:p>
                      <a:pPr>
                        <a:defRPr sz="1000">
                          <a:solidFill>
                            <a:srgbClr val="212529"/>
                          </a:solidFill>
                        </a:defRPr>
                      </a:pPr>
                      <a:r>
                        <a:t>1,40 mln. EUR</a:t>
                      </a:r>
                    </a:p>
                  </a:txBody>
                  <a:tcPr>
                    <a:solidFill>
                      <a:srgbClr val="FFFFFF"/>
                    </a:solidFill>
                  </a:tcPr>
                </a:tc>
                <a:tc>
                  <a:txBody>
                    <a:bodyPr wrap="square"/>
                    <a:lstStyle/>
                    <a:p>
                      <a:pPr>
                        <a:defRPr sz="1000">
                          <a:solidFill>
                            <a:srgbClr val="212529"/>
                          </a:solidFill>
                        </a:defRPr>
                      </a:pPr>
                    </a:p>
                  </a:txBody>
                  <a:tcPr>
                    <a:solidFill>
                      <a:srgbClr val="FFFFFF"/>
                    </a:solidFill>
                  </a:tcPr>
                </a:tc>
              </a:tr>
            </a:tbl>
          </a:graphicData>
        </a:graphic>
      </p:graphicFrame>
      <p:sp>
        <p:nvSpPr>
          <p:cNvPr id="7" name="Rounded Rectangle 6"/>
          <p:cNvSpPr/>
          <p:nvPr/>
        </p:nvSpPr>
        <p:spPr>
          <a:xfrm>
            <a:off x="7909560" y="987552"/>
            <a:ext cx="3886200" cy="2926080"/>
          </a:xfrm>
          <a:prstGeom prst="roundRect">
            <a:avLst/>
          </a:prstGeom>
          <a:solidFill>
            <a:srgbClr val="ECF7FA"/>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170432"/>
            <a:ext cx="3520440" cy="2651760"/>
          </a:xfrm>
          <a:prstGeom prst="rect">
            <a:avLst/>
          </a:prstGeom>
          <a:noFill/>
        </p:spPr>
        <p:txBody>
          <a:bodyPr wrap="none">
            <a:spAutoFit/>
          </a:bodyPr>
          <a:lstStyle/>
          <a:p>
            <a:pPr>
              <a:defRPr sz="1100" b="0">
                <a:solidFill>
                  <a:srgbClr val="212529"/>
                </a:solidFill>
              </a:defRPr>
            </a:pPr>
            <a:r>
              <a:t>Papildomos svarbios naudos</a:t>
            </a:r>
          </a:p>
          <a:p>
            <a:pPr>
              <a:defRPr sz="1100" b="0">
                <a:solidFill>
                  <a:srgbClr val="212529"/>
                </a:solidFill>
              </a:defRPr>
            </a:pPr>
          </a:p>
          <a:p>
            <a:pPr>
              <a:defRPr sz="1100" b="0">
                <a:solidFill>
                  <a:srgbClr val="212529"/>
                </a:solidFill>
              </a:defRPr>
            </a:pPr>
            <a:r>
              <a:t>1) Mažesnė klaidų tikimybė ir perdirbimas</a:t>
            </a:r>
          </a:p>
          <a:p>
            <a:pPr>
              <a:defRPr sz="1100" b="0">
                <a:solidFill>
                  <a:srgbClr val="212529"/>
                </a:solidFill>
              </a:defRPr>
            </a:pPr>
            <a:r>
              <a:t>~80–100 kEUR / m.</a:t>
            </a:r>
          </a:p>
          <a:p>
            <a:pPr>
              <a:defRPr sz="1100" b="0">
                <a:solidFill>
                  <a:srgbClr val="212529"/>
                </a:solidFill>
              </a:defRPr>
            </a:pPr>
          </a:p>
          <a:p>
            <a:pPr>
              <a:defRPr sz="1100" b="0">
                <a:solidFill>
                  <a:srgbClr val="212529"/>
                </a:solidFill>
              </a:defRPr>
            </a:pPr>
            <a:r>
              <a:t>2) Didesnis pasitikėjimas duomenimis</a:t>
            </a:r>
          </a:p>
          <a:p>
            <a:pPr>
              <a:defRPr sz="1100" b="0">
                <a:solidFill>
                  <a:srgbClr val="212529"/>
                </a:solidFill>
              </a:defRPr>
            </a:pPr>
            <a:r>
              <a:t>~40–60 kEUR / m.</a:t>
            </a:r>
          </a:p>
          <a:p>
            <a:pPr>
              <a:defRPr sz="1100" b="0">
                <a:solidFill>
                  <a:srgbClr val="212529"/>
                </a:solidFill>
              </a:defRPr>
            </a:pPr>
          </a:p>
          <a:p>
            <a:pPr>
              <a:defRPr sz="1100" b="0">
                <a:solidFill>
                  <a:srgbClr val="212529"/>
                </a:solidFill>
              </a:defRPr>
            </a:pPr>
            <a:r>
              <a:t>3) Data governance ir familiarity įdirbis</a:t>
            </a:r>
          </a:p>
          <a:p>
            <a:pPr>
              <a:defRPr sz="1100" b="0">
                <a:solidFill>
                  <a:srgbClr val="212529"/>
                </a:solidFill>
              </a:defRPr>
            </a:pPr>
            <a:r>
              <a:t>~30–50 kEUR / m.</a:t>
            </a:r>
          </a:p>
        </p:txBody>
      </p:sp>
      <p:sp>
        <p:nvSpPr>
          <p:cNvPr id="9" name="Rounded Rectangle 8"/>
          <p:cNvSpPr/>
          <p:nvPr/>
        </p:nvSpPr>
        <p:spPr>
          <a:xfrm>
            <a:off x="411480" y="4114800"/>
            <a:ext cx="2240280" cy="914400"/>
          </a:xfrm>
          <a:prstGeom prst="roundRect">
            <a:avLst/>
          </a:prstGeom>
          <a:solidFill>
            <a:srgbClr val="FFFFFF"/>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B2B54"/>
                </a:solidFill>
              </a:defRPr>
            </a:pPr>
            <a:r>
              <a:t>TDM vertė</a:t>
            </a:r>
          </a:p>
        </p:txBody>
      </p:sp>
      <p:sp>
        <p:nvSpPr>
          <p:cNvPr id="10" name="Rounded Rectangle 9"/>
          <p:cNvSpPr/>
          <p:nvPr/>
        </p:nvSpPr>
        <p:spPr>
          <a:xfrm>
            <a:off x="2926080" y="3977639"/>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Reuse</a:t>
            </a:r>
          </a:p>
        </p:txBody>
      </p:sp>
      <p:cxnSp>
        <p:nvCxnSpPr>
          <p:cNvPr id="11" name="Connector 10"/>
          <p:cNvCxnSpPr/>
          <p:nvPr/>
        </p:nvCxnSpPr>
        <p:spPr>
          <a:xfrm flipV="1">
            <a:off x="2651760" y="4343400"/>
            <a:ext cx="274320" cy="22860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897880" y="3977639"/>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DQ</a:t>
            </a:r>
          </a:p>
        </p:txBody>
      </p:sp>
      <p:cxnSp>
        <p:nvCxnSpPr>
          <p:cNvPr id="13" name="Connector 12"/>
          <p:cNvCxnSpPr/>
          <p:nvPr/>
        </p:nvCxnSpPr>
        <p:spPr>
          <a:xfrm flipV="1">
            <a:off x="2651760" y="4343400"/>
            <a:ext cx="3246120" cy="22860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869680" y="3977639"/>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Governance</a:t>
            </a:r>
          </a:p>
        </p:txBody>
      </p:sp>
      <p:cxnSp>
        <p:nvCxnSpPr>
          <p:cNvPr id="15" name="Connector 14"/>
          <p:cNvCxnSpPr/>
          <p:nvPr/>
        </p:nvCxnSpPr>
        <p:spPr>
          <a:xfrm flipV="1">
            <a:off x="2651760" y="4343400"/>
            <a:ext cx="6217920" cy="22860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926080" y="5074920"/>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Trust</a:t>
            </a:r>
          </a:p>
        </p:txBody>
      </p:sp>
      <p:cxnSp>
        <p:nvCxnSpPr>
          <p:cNvPr id="17" name="Connector 16"/>
          <p:cNvCxnSpPr/>
          <p:nvPr/>
        </p:nvCxnSpPr>
        <p:spPr>
          <a:xfrm>
            <a:off x="2651760" y="4572000"/>
            <a:ext cx="274320" cy="86868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97880" y="5074920"/>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Support</a:t>
            </a:r>
          </a:p>
        </p:txBody>
      </p:sp>
      <p:cxnSp>
        <p:nvCxnSpPr>
          <p:cNvPr id="19" name="Connector 18"/>
          <p:cNvCxnSpPr/>
          <p:nvPr/>
        </p:nvCxnSpPr>
        <p:spPr>
          <a:xfrm>
            <a:off x="2651760" y="4572000"/>
            <a:ext cx="3246120" cy="86868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69680" y="5074920"/>
            <a:ext cx="2560320" cy="7315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7C91"/>
                </a:solidFill>
              </a:defRPr>
            </a:pPr>
            <a:r>
              <a:t>Data familiarity</a:t>
            </a:r>
          </a:p>
        </p:txBody>
      </p:sp>
      <p:cxnSp>
        <p:nvCxnSpPr>
          <p:cNvPr id="21" name="Connector 20"/>
          <p:cNvCxnSpPr/>
          <p:nvPr/>
        </p:nvCxnSpPr>
        <p:spPr>
          <a:xfrm>
            <a:off x="2651760" y="4572000"/>
            <a:ext cx="6217920" cy="868680"/>
          </a:xfrm>
          <a:prstGeom prst="line">
            <a:avLst/>
          </a:prstGeom>
          <a:ln w="12700">
            <a:solidFill>
              <a:srgbClr val="A0AAB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11480" y="5943600"/>
            <a:ext cx="11384280" cy="64008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108192"/>
            <a:ext cx="10972800" cy="274320"/>
          </a:xfrm>
          <a:prstGeom prst="rect">
            <a:avLst/>
          </a:prstGeom>
          <a:noFill/>
        </p:spPr>
        <p:txBody>
          <a:bodyPr wrap="none">
            <a:spAutoFit/>
          </a:bodyPr>
          <a:lstStyle/>
          <a:p>
            <a:pPr>
              <a:defRPr sz="1100" b="1">
                <a:solidFill>
                  <a:srgbClr val="0B2B54"/>
                </a:solidFill>
              </a:defRPr>
            </a:pPr>
            <a:r>
              <a:t>Labai svarbu: šios naudos yra papildomos prie tiesioginio verslo poveikio, kurį gali duoti patys produktai.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Ekonomiškai stipriausias balansas – 2 scenarijus: palyginti nedidelis papildomas spendas prieš 1 scenarijų duoda reikšmingai didesnę grąžą</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8</a:t>
            </a:r>
          </a:p>
        </p:txBody>
      </p:sp>
      <p:sp>
        <p:nvSpPr>
          <p:cNvPr id="6" name="TextBox 5"/>
          <p:cNvSpPr txBox="1"/>
          <p:nvPr/>
        </p:nvSpPr>
        <p:spPr>
          <a:xfrm>
            <a:off x="411480" y="960120"/>
            <a:ext cx="4846320" cy="274320"/>
          </a:xfrm>
          <a:prstGeom prst="rect">
            <a:avLst/>
          </a:prstGeom>
          <a:noFill/>
        </p:spPr>
        <p:txBody>
          <a:bodyPr wrap="none">
            <a:spAutoFit/>
          </a:bodyPr>
          <a:lstStyle/>
          <a:p>
            <a:pPr>
              <a:defRPr sz="1300" b="1">
                <a:solidFill>
                  <a:srgbClr val="0B2B54"/>
                </a:solidFill>
              </a:defRPr>
            </a:pPr>
            <a:r>
              <a:t>2027–2030 investicija po EENĮ (kEUR)</a:t>
            </a:r>
          </a:p>
        </p:txBody>
      </p:sp>
      <p:graphicFrame>
        <p:nvGraphicFramePr>
          <p:cNvPr id="7" name="Table 6"/>
          <p:cNvGraphicFramePr>
            <a:graphicFrameLocks noGrp="1"/>
          </p:cNvGraphicFramePr>
          <p:nvPr/>
        </p:nvGraphicFramePr>
        <p:xfrm>
          <a:off x="411480" y="1234440"/>
          <a:ext cx="5806440" cy="1600200"/>
        </p:xfrm>
        <a:graphic>
          <a:graphicData uri="http://schemas.openxmlformats.org/drawingml/2006/table">
            <a:tbl>
              <a:tblPr firstRow="1" bandRow="1">
                <a:tableStyleId>{5C22544A-7EE6-4342-B048-85BDC9FD1C3A}</a:tableStyleId>
              </a:tblPr>
              <a:tblGrid>
                <a:gridCol w="967740"/>
                <a:gridCol w="967740"/>
                <a:gridCol w="967740"/>
                <a:gridCol w="967740"/>
                <a:gridCol w="967740"/>
                <a:gridCol w="967740"/>
              </a:tblGrid>
              <a:tr h="400050">
                <a:tc>
                  <a:txBody>
                    <a:bodyPr wrap="square"/>
                    <a:lstStyle/>
                    <a:p>
                      <a:pPr>
                        <a:defRPr sz="1000" b="1">
                          <a:solidFill>
                            <a:srgbClr val="FFFFFF"/>
                          </a:solidFill>
                        </a:defRPr>
                      </a:pPr>
                      <a:r>
                        <a:t>Scenarijus</a:t>
                      </a:r>
                    </a:p>
                  </a:txBody>
                  <a:tcPr>
                    <a:solidFill>
                      <a:srgbClr val="0B2B54"/>
                    </a:solidFill>
                  </a:tcPr>
                </a:tc>
                <a:tc>
                  <a:txBody>
                    <a:bodyPr wrap="square"/>
                    <a:lstStyle/>
                    <a:p>
                      <a:pPr>
                        <a:defRPr sz="1000" b="1">
                          <a:solidFill>
                            <a:srgbClr val="FFFFFF"/>
                          </a:solidFill>
                        </a:defRPr>
                      </a:pPr>
                      <a:r>
                        <a:t>2027</a:t>
                      </a:r>
                    </a:p>
                  </a:txBody>
                  <a:tcPr>
                    <a:solidFill>
                      <a:srgbClr val="0B2B54"/>
                    </a:solidFill>
                  </a:tcPr>
                </a:tc>
                <a:tc>
                  <a:txBody>
                    <a:bodyPr wrap="square"/>
                    <a:lstStyle/>
                    <a:p>
                      <a:pPr>
                        <a:defRPr sz="1000" b="1">
                          <a:solidFill>
                            <a:srgbClr val="FFFFFF"/>
                          </a:solidFill>
                        </a:defRPr>
                      </a:pPr>
                      <a:r>
                        <a:t>2028</a:t>
                      </a:r>
                    </a:p>
                  </a:txBody>
                  <a:tcPr>
                    <a:solidFill>
                      <a:srgbClr val="0B2B54"/>
                    </a:solidFill>
                  </a:tcPr>
                </a:tc>
                <a:tc>
                  <a:txBody>
                    <a:bodyPr wrap="square"/>
                    <a:lstStyle/>
                    <a:p>
                      <a:pPr>
                        <a:defRPr sz="1000" b="1">
                          <a:solidFill>
                            <a:srgbClr val="FFFFFF"/>
                          </a:solidFill>
                        </a:defRPr>
                      </a:pPr>
                      <a:r>
                        <a:t>2029</a:t>
                      </a:r>
                    </a:p>
                  </a:txBody>
                  <a:tcPr>
                    <a:solidFill>
                      <a:srgbClr val="0B2B54"/>
                    </a:solidFill>
                  </a:tcPr>
                </a:tc>
                <a:tc>
                  <a:txBody>
                    <a:bodyPr wrap="square"/>
                    <a:lstStyle/>
                    <a:p>
                      <a:pPr>
                        <a:defRPr sz="1000" b="1">
                          <a:solidFill>
                            <a:srgbClr val="FFFFFF"/>
                          </a:solidFill>
                        </a:defRPr>
                      </a:pPr>
                      <a:r>
                        <a:t>2030</a:t>
                      </a:r>
                    </a:p>
                  </a:txBody>
                  <a:tcPr>
                    <a:solidFill>
                      <a:srgbClr val="0B2B54"/>
                    </a:solidFill>
                  </a:tcPr>
                </a:tc>
                <a:tc>
                  <a:txBody>
                    <a:bodyPr wrap="square"/>
                    <a:lstStyle/>
                    <a:p>
                      <a:pPr>
                        <a:defRPr sz="1000" b="1">
                          <a:solidFill>
                            <a:srgbClr val="FFFFFF"/>
                          </a:solidFill>
                        </a:defRPr>
                      </a:pPr>
                      <a:r>
                        <a:t>Iš viso</a:t>
                      </a:r>
                    </a:p>
                  </a:txBody>
                  <a:tcPr>
                    <a:solidFill>
                      <a:srgbClr val="0B2B54"/>
                    </a:solidFill>
                  </a:tcPr>
                </a:tc>
              </a:tr>
              <a:tr h="400050">
                <a:tc>
                  <a:txBody>
                    <a:bodyPr wrap="square"/>
                    <a:lstStyle/>
                    <a:p>
                      <a:pPr>
                        <a:defRPr sz="1000">
                          <a:solidFill>
                            <a:srgbClr val="212529"/>
                          </a:solidFill>
                        </a:defRPr>
                      </a:pPr>
                      <a:r>
                        <a:t>1</a:t>
                      </a:r>
                    </a:p>
                  </a:txBody>
                  <a:tcPr>
                    <a:solidFill>
                      <a:srgbClr val="FFFFFF"/>
                    </a:solidFill>
                  </a:tcPr>
                </a:tc>
                <a:tc>
                  <a:txBody>
                    <a:bodyPr wrap="square"/>
                    <a:lstStyle/>
                    <a:p>
                      <a:pPr>
                        <a:defRPr sz="1000">
                          <a:solidFill>
                            <a:srgbClr val="212529"/>
                          </a:solidFill>
                        </a:defRPr>
                      </a:pPr>
                      <a:r>
                        <a:t>890</a:t>
                      </a:r>
                    </a:p>
                  </a:txBody>
                  <a:tcPr>
                    <a:solidFill>
                      <a:srgbClr val="FFFFFF"/>
                    </a:solidFill>
                  </a:tcPr>
                </a:tc>
                <a:tc>
                  <a:txBody>
                    <a:bodyPr wrap="square"/>
                    <a:lstStyle/>
                    <a:p>
                      <a:pPr>
                        <a:defRPr sz="1000">
                          <a:solidFill>
                            <a:srgbClr val="212529"/>
                          </a:solidFill>
                        </a:defRPr>
                      </a:pPr>
                      <a:r>
                        <a:t>900</a:t>
                      </a:r>
                    </a:p>
                  </a:txBody>
                  <a:tcPr>
                    <a:solidFill>
                      <a:srgbClr val="FFFFFF"/>
                    </a:solidFill>
                  </a:tcPr>
                </a:tc>
                <a:tc>
                  <a:txBody>
                    <a:bodyPr wrap="square"/>
                    <a:lstStyle/>
                    <a:p>
                      <a:pPr>
                        <a:defRPr sz="1000">
                          <a:solidFill>
                            <a:srgbClr val="212529"/>
                          </a:solidFill>
                        </a:defRPr>
                      </a:pPr>
                      <a:r>
                        <a:t>1 070</a:t>
                      </a:r>
                    </a:p>
                  </a:txBody>
                  <a:tcPr>
                    <a:solidFill>
                      <a:srgbClr val="FFFFFF"/>
                    </a:solidFill>
                  </a:tcPr>
                </a:tc>
                <a:tc>
                  <a:txBody>
                    <a:bodyPr wrap="square"/>
                    <a:lstStyle/>
                    <a:p>
                      <a:pPr>
                        <a:defRPr sz="1000">
                          <a:solidFill>
                            <a:srgbClr val="212529"/>
                          </a:solidFill>
                        </a:defRPr>
                      </a:pPr>
                      <a:r>
                        <a:t>920</a:t>
                      </a:r>
                    </a:p>
                  </a:txBody>
                  <a:tcPr>
                    <a:solidFill>
                      <a:srgbClr val="FFFFFF"/>
                    </a:solidFill>
                  </a:tcPr>
                </a:tc>
                <a:tc>
                  <a:txBody>
                    <a:bodyPr wrap="square"/>
                    <a:lstStyle/>
                    <a:p>
                      <a:pPr>
                        <a:defRPr sz="1000">
                          <a:solidFill>
                            <a:srgbClr val="212529"/>
                          </a:solidFill>
                        </a:defRPr>
                      </a:pPr>
                      <a:r>
                        <a:t>3 780</a:t>
                      </a:r>
                    </a:p>
                  </a:txBody>
                  <a:tcPr>
                    <a:solidFill>
                      <a:srgbClr val="FFFFFF"/>
                    </a:solidFill>
                  </a:tcPr>
                </a:tc>
              </a:tr>
              <a:tr h="400050">
                <a:tc>
                  <a:txBody>
                    <a:bodyPr wrap="square"/>
                    <a:lstStyle/>
                    <a:p>
                      <a:pPr>
                        <a:defRPr sz="1000">
                          <a:solidFill>
                            <a:srgbClr val="212529"/>
                          </a:solidFill>
                        </a:defRPr>
                      </a:pPr>
                      <a:r>
                        <a:t>2</a:t>
                      </a:r>
                    </a:p>
                  </a:txBody>
                  <a:tcPr>
                    <a:solidFill>
                      <a:srgbClr val="F8FBFF"/>
                    </a:solidFill>
                  </a:tcPr>
                </a:tc>
                <a:tc>
                  <a:txBody>
                    <a:bodyPr wrap="square"/>
                    <a:lstStyle/>
                    <a:p>
                      <a:pPr>
                        <a:defRPr sz="1000">
                          <a:solidFill>
                            <a:srgbClr val="212529"/>
                          </a:solidFill>
                        </a:defRPr>
                      </a:pPr>
                      <a:r>
                        <a:t>1 030</a:t>
                      </a:r>
                    </a:p>
                  </a:txBody>
                  <a:tcPr>
                    <a:solidFill>
                      <a:srgbClr val="F8FBFF"/>
                    </a:solidFill>
                  </a:tcPr>
                </a:tc>
                <a:tc>
                  <a:txBody>
                    <a:bodyPr wrap="square"/>
                    <a:lstStyle/>
                    <a:p>
                      <a:pPr>
                        <a:defRPr sz="1000">
                          <a:solidFill>
                            <a:srgbClr val="212529"/>
                          </a:solidFill>
                        </a:defRPr>
                      </a:pPr>
                      <a:r>
                        <a:t>1 000</a:t>
                      </a:r>
                    </a:p>
                  </a:txBody>
                  <a:tcPr>
                    <a:solidFill>
                      <a:srgbClr val="F8FBFF"/>
                    </a:solidFill>
                  </a:tcPr>
                </a:tc>
                <a:tc>
                  <a:txBody>
                    <a:bodyPr wrap="square"/>
                    <a:lstStyle/>
                    <a:p>
                      <a:pPr>
                        <a:defRPr sz="1000">
                          <a:solidFill>
                            <a:srgbClr val="212529"/>
                          </a:solidFill>
                        </a:defRPr>
                      </a:pPr>
                      <a:r>
                        <a:t>1 080</a:t>
                      </a:r>
                    </a:p>
                  </a:txBody>
                  <a:tcPr>
                    <a:solidFill>
                      <a:srgbClr val="F8FBFF"/>
                    </a:solidFill>
                  </a:tcPr>
                </a:tc>
                <a:tc>
                  <a:txBody>
                    <a:bodyPr wrap="square"/>
                    <a:lstStyle/>
                    <a:p>
                      <a:pPr>
                        <a:defRPr sz="1000">
                          <a:solidFill>
                            <a:srgbClr val="212529"/>
                          </a:solidFill>
                        </a:defRPr>
                      </a:pPr>
                      <a:r>
                        <a:t>900</a:t>
                      </a:r>
                    </a:p>
                  </a:txBody>
                  <a:tcPr>
                    <a:solidFill>
                      <a:srgbClr val="F8FBFF"/>
                    </a:solidFill>
                  </a:tcPr>
                </a:tc>
                <a:tc>
                  <a:txBody>
                    <a:bodyPr wrap="square"/>
                    <a:lstStyle/>
                    <a:p>
                      <a:pPr>
                        <a:defRPr sz="1000">
                          <a:solidFill>
                            <a:srgbClr val="212529"/>
                          </a:solidFill>
                        </a:defRPr>
                      </a:pPr>
                      <a:r>
                        <a:t>4 010</a:t>
                      </a:r>
                    </a:p>
                  </a:txBody>
                  <a:tcPr>
                    <a:solidFill>
                      <a:srgbClr val="F8FBFF"/>
                    </a:solidFill>
                  </a:tcPr>
                </a:tc>
              </a:tr>
              <a:tr h="400050">
                <a:tc>
                  <a:txBody>
                    <a:bodyPr wrap="square"/>
                    <a:lstStyle/>
                    <a:p>
                      <a:pPr>
                        <a:defRPr sz="1000">
                          <a:solidFill>
                            <a:srgbClr val="212529"/>
                          </a:solidFill>
                        </a:defRPr>
                      </a:pPr>
                      <a:r>
                        <a:t>3</a:t>
                      </a:r>
                    </a:p>
                  </a:txBody>
                  <a:tcPr>
                    <a:solidFill>
                      <a:srgbClr val="FFFFFF"/>
                    </a:solidFill>
                  </a:tcPr>
                </a:tc>
                <a:tc>
                  <a:txBody>
                    <a:bodyPr wrap="square"/>
                    <a:lstStyle/>
                    <a:p>
                      <a:pPr>
                        <a:defRPr sz="1000">
                          <a:solidFill>
                            <a:srgbClr val="212529"/>
                          </a:solidFill>
                        </a:defRPr>
                      </a:pPr>
                      <a:r>
                        <a:t>1 320</a:t>
                      </a:r>
                    </a:p>
                  </a:txBody>
                  <a:tcPr>
                    <a:solidFill>
                      <a:srgbClr val="FFFFFF"/>
                    </a:solidFill>
                  </a:tcPr>
                </a:tc>
                <a:tc>
                  <a:txBody>
                    <a:bodyPr wrap="square"/>
                    <a:lstStyle/>
                    <a:p>
                      <a:pPr>
                        <a:defRPr sz="1000">
                          <a:solidFill>
                            <a:srgbClr val="212529"/>
                          </a:solidFill>
                        </a:defRPr>
                      </a:pPr>
                      <a:r>
                        <a:t>1 550</a:t>
                      </a:r>
                    </a:p>
                  </a:txBody>
                  <a:tcPr>
                    <a:solidFill>
                      <a:srgbClr val="FFFFFF"/>
                    </a:solidFill>
                  </a:tcPr>
                </a:tc>
                <a:tc>
                  <a:txBody>
                    <a:bodyPr wrap="square"/>
                    <a:lstStyle/>
                    <a:p>
                      <a:pPr>
                        <a:defRPr sz="1000">
                          <a:solidFill>
                            <a:srgbClr val="212529"/>
                          </a:solidFill>
                        </a:defRPr>
                      </a:pPr>
                      <a:r>
                        <a:t>1 720</a:t>
                      </a:r>
                    </a:p>
                  </a:txBody>
                  <a:tcPr>
                    <a:solidFill>
                      <a:srgbClr val="FFFFFF"/>
                    </a:solidFill>
                  </a:tcPr>
                </a:tc>
                <a:tc>
                  <a:txBody>
                    <a:bodyPr wrap="square"/>
                    <a:lstStyle/>
                    <a:p>
                      <a:pPr>
                        <a:defRPr sz="1000">
                          <a:solidFill>
                            <a:srgbClr val="212529"/>
                          </a:solidFill>
                        </a:defRPr>
                      </a:pPr>
                      <a:r>
                        <a:t>1 470</a:t>
                      </a:r>
                    </a:p>
                  </a:txBody>
                  <a:tcPr>
                    <a:solidFill>
                      <a:srgbClr val="FFFFFF"/>
                    </a:solidFill>
                  </a:tcPr>
                </a:tc>
                <a:tc>
                  <a:txBody>
                    <a:bodyPr wrap="square"/>
                    <a:lstStyle/>
                    <a:p>
                      <a:pPr>
                        <a:defRPr sz="1000">
                          <a:solidFill>
                            <a:srgbClr val="212529"/>
                          </a:solidFill>
                        </a:defRPr>
                      </a:pPr>
                      <a:r>
                        <a:t>6 060</a:t>
                      </a:r>
                    </a:p>
                  </a:txBody>
                  <a:tcPr>
                    <a:solidFill>
                      <a:srgbClr val="FFFFFF"/>
                    </a:solidFill>
                  </a:tcPr>
                </a:tc>
              </a:tr>
            </a:tbl>
          </a:graphicData>
        </a:graphic>
      </p:graphicFrame>
      <p:sp>
        <p:nvSpPr>
          <p:cNvPr id="8" name="TextBox 7"/>
          <p:cNvSpPr txBox="1"/>
          <p:nvPr/>
        </p:nvSpPr>
        <p:spPr>
          <a:xfrm>
            <a:off x="411480" y="2926080"/>
            <a:ext cx="5029200" cy="274320"/>
          </a:xfrm>
          <a:prstGeom prst="rect">
            <a:avLst/>
          </a:prstGeom>
          <a:noFill/>
        </p:spPr>
        <p:txBody>
          <a:bodyPr wrap="none">
            <a:spAutoFit/>
          </a:bodyPr>
          <a:lstStyle/>
          <a:p>
            <a:pPr>
              <a:defRPr sz="1300" b="1">
                <a:solidFill>
                  <a:srgbClr val="0B2B54"/>
                </a:solidFill>
              </a:defRPr>
            </a:pPr>
            <a:r>
              <a:t>2027–2030 naudos (kEUR)</a:t>
            </a:r>
          </a:p>
        </p:txBody>
      </p:sp>
      <p:graphicFrame>
        <p:nvGraphicFramePr>
          <p:cNvPr id="9" name="Table 8"/>
          <p:cNvGraphicFramePr>
            <a:graphicFrameLocks noGrp="1"/>
          </p:cNvGraphicFramePr>
          <p:nvPr/>
        </p:nvGraphicFramePr>
        <p:xfrm>
          <a:off x="411480" y="3200400"/>
          <a:ext cx="5806440" cy="1600200"/>
        </p:xfrm>
        <a:graphic>
          <a:graphicData uri="http://schemas.openxmlformats.org/drawingml/2006/table">
            <a:tbl>
              <a:tblPr firstRow="1" bandRow="1">
                <a:tableStyleId>{5C22544A-7EE6-4342-B048-85BDC9FD1C3A}</a:tableStyleId>
              </a:tblPr>
              <a:tblGrid>
                <a:gridCol w="1451610"/>
                <a:gridCol w="1451610"/>
                <a:gridCol w="1451610"/>
                <a:gridCol w="1451610"/>
              </a:tblGrid>
              <a:tr h="400050">
                <a:tc>
                  <a:txBody>
                    <a:bodyPr wrap="square"/>
                    <a:lstStyle/>
                    <a:p>
                      <a:pPr>
                        <a:defRPr sz="1000" b="1">
                          <a:solidFill>
                            <a:srgbClr val="FFFFFF"/>
                          </a:solidFill>
                        </a:defRPr>
                      </a:pPr>
                      <a:r>
                        <a:t>Scenarijus</a:t>
                      </a:r>
                    </a:p>
                  </a:txBody>
                  <a:tcPr>
                    <a:solidFill>
                      <a:srgbClr val="0B2B54"/>
                    </a:solidFill>
                  </a:tcPr>
                </a:tc>
                <a:tc>
                  <a:txBody>
                    <a:bodyPr wrap="square"/>
                    <a:lstStyle/>
                    <a:p>
                      <a:pPr>
                        <a:defRPr sz="1000" b="1">
                          <a:solidFill>
                            <a:srgbClr val="FFFFFF"/>
                          </a:solidFill>
                        </a:defRPr>
                      </a:pPr>
                      <a:r>
                        <a:t>Platforminė / netiesioginė</a:t>
                      </a:r>
                    </a:p>
                  </a:txBody>
                  <a:tcPr>
                    <a:solidFill>
                      <a:srgbClr val="0B2B54"/>
                    </a:solidFill>
                  </a:tcPr>
                </a:tc>
                <a:tc>
                  <a:txBody>
                    <a:bodyPr wrap="square"/>
                    <a:lstStyle/>
                    <a:p>
                      <a:pPr>
                        <a:defRPr sz="1000" b="1">
                          <a:solidFill>
                            <a:srgbClr val="FFFFFF"/>
                          </a:solidFill>
                        </a:defRPr>
                      </a:pPr>
                      <a:r>
                        <a:t>Produktų tiesioginė*</a:t>
                      </a:r>
                    </a:p>
                  </a:txBody>
                  <a:tcPr>
                    <a:solidFill>
                      <a:srgbClr val="0B2B54"/>
                    </a:solidFill>
                  </a:tcPr>
                </a:tc>
                <a:tc>
                  <a:txBody>
                    <a:bodyPr wrap="square"/>
                    <a:lstStyle/>
                    <a:p>
                      <a:pPr>
                        <a:defRPr sz="1000" b="1">
                          <a:solidFill>
                            <a:srgbClr val="FFFFFF"/>
                          </a:solidFill>
                        </a:defRPr>
                      </a:pPr>
                      <a:r>
                        <a:t>Iš viso naudos</a:t>
                      </a:r>
                    </a:p>
                  </a:txBody>
                  <a:tcPr>
                    <a:solidFill>
                      <a:srgbClr val="0B2B54"/>
                    </a:solidFill>
                  </a:tcPr>
                </a:tc>
              </a:tr>
              <a:tr h="400050">
                <a:tc>
                  <a:txBody>
                    <a:bodyPr wrap="square"/>
                    <a:lstStyle/>
                    <a:p>
                      <a:pPr>
                        <a:defRPr sz="1000">
                          <a:solidFill>
                            <a:srgbClr val="212529"/>
                          </a:solidFill>
                        </a:defRPr>
                      </a:pPr>
                      <a:r>
                        <a:t>1</a:t>
                      </a:r>
                    </a:p>
                  </a:txBody>
                  <a:tcPr>
                    <a:solidFill>
                      <a:srgbClr val="FFFFFF"/>
                    </a:solidFill>
                  </a:tcPr>
                </a:tc>
                <a:tc>
                  <a:txBody>
                    <a:bodyPr wrap="square"/>
                    <a:lstStyle/>
                    <a:p>
                      <a:pPr>
                        <a:defRPr sz="1000">
                          <a:solidFill>
                            <a:srgbClr val="212529"/>
                          </a:solidFill>
                        </a:defRPr>
                      </a:pPr>
                      <a:r>
                        <a:t>150</a:t>
                      </a:r>
                    </a:p>
                  </a:txBody>
                  <a:tcPr>
                    <a:solidFill>
                      <a:srgbClr val="FFFFFF"/>
                    </a:solidFill>
                  </a:tcPr>
                </a:tc>
                <a:tc>
                  <a:txBody>
                    <a:bodyPr wrap="square"/>
                    <a:lstStyle/>
                    <a:p>
                      <a:pPr>
                        <a:defRPr sz="1000">
                          <a:solidFill>
                            <a:srgbClr val="212529"/>
                          </a:solidFill>
                        </a:defRPr>
                      </a:pPr>
                      <a:r>
                        <a:t>1 500</a:t>
                      </a:r>
                    </a:p>
                  </a:txBody>
                  <a:tcPr>
                    <a:solidFill>
                      <a:srgbClr val="FFFFFF"/>
                    </a:solidFill>
                  </a:tcPr>
                </a:tc>
                <a:tc>
                  <a:txBody>
                    <a:bodyPr wrap="square"/>
                    <a:lstStyle/>
                    <a:p>
                      <a:pPr>
                        <a:defRPr sz="1000">
                          <a:solidFill>
                            <a:srgbClr val="212529"/>
                          </a:solidFill>
                        </a:defRPr>
                      </a:pPr>
                      <a:r>
                        <a:t>1 650</a:t>
                      </a:r>
                    </a:p>
                  </a:txBody>
                  <a:tcPr>
                    <a:solidFill>
                      <a:srgbClr val="FFFFFF"/>
                    </a:solidFill>
                  </a:tcPr>
                </a:tc>
              </a:tr>
              <a:tr h="400050">
                <a:tc>
                  <a:txBody>
                    <a:bodyPr wrap="square"/>
                    <a:lstStyle/>
                    <a:p>
                      <a:pPr>
                        <a:defRPr sz="1000">
                          <a:solidFill>
                            <a:srgbClr val="212529"/>
                          </a:solidFill>
                        </a:defRPr>
                      </a:pPr>
                      <a:r>
                        <a:t>2</a:t>
                      </a:r>
                    </a:p>
                  </a:txBody>
                  <a:tcPr>
                    <a:solidFill>
                      <a:srgbClr val="F8FBFF"/>
                    </a:solidFill>
                  </a:tcPr>
                </a:tc>
                <a:tc>
                  <a:txBody>
                    <a:bodyPr wrap="square"/>
                    <a:lstStyle/>
                    <a:p>
                      <a:pPr>
                        <a:defRPr sz="1000">
                          <a:solidFill>
                            <a:srgbClr val="212529"/>
                          </a:solidFill>
                        </a:defRPr>
                      </a:pPr>
                      <a:r>
                        <a:t>1 400</a:t>
                      </a:r>
                    </a:p>
                  </a:txBody>
                  <a:tcPr>
                    <a:solidFill>
                      <a:srgbClr val="F8FBFF"/>
                    </a:solidFill>
                  </a:tcPr>
                </a:tc>
                <a:tc>
                  <a:txBody>
                    <a:bodyPr wrap="square"/>
                    <a:lstStyle/>
                    <a:p>
                      <a:pPr>
                        <a:defRPr sz="1000">
                          <a:solidFill>
                            <a:srgbClr val="212529"/>
                          </a:solidFill>
                        </a:defRPr>
                      </a:pPr>
                      <a:r>
                        <a:t>1 450</a:t>
                      </a:r>
                    </a:p>
                  </a:txBody>
                  <a:tcPr>
                    <a:solidFill>
                      <a:srgbClr val="F8FBFF"/>
                    </a:solidFill>
                  </a:tcPr>
                </a:tc>
                <a:tc>
                  <a:txBody>
                    <a:bodyPr wrap="square"/>
                    <a:lstStyle/>
                    <a:p>
                      <a:pPr>
                        <a:defRPr sz="1000">
                          <a:solidFill>
                            <a:srgbClr val="212529"/>
                          </a:solidFill>
                        </a:defRPr>
                      </a:pPr>
                      <a:r>
                        <a:t>2 850</a:t>
                      </a:r>
                    </a:p>
                  </a:txBody>
                  <a:tcPr>
                    <a:solidFill>
                      <a:srgbClr val="F8FBFF"/>
                    </a:solidFill>
                  </a:tcPr>
                </a:tc>
              </a:tr>
              <a:tr h="400050">
                <a:tc>
                  <a:txBody>
                    <a:bodyPr wrap="square"/>
                    <a:lstStyle/>
                    <a:p>
                      <a:pPr>
                        <a:defRPr sz="1000">
                          <a:solidFill>
                            <a:srgbClr val="212529"/>
                          </a:solidFill>
                        </a:defRPr>
                      </a:pPr>
                      <a:r>
                        <a:t>3</a:t>
                      </a:r>
                    </a:p>
                  </a:txBody>
                  <a:tcPr>
                    <a:solidFill>
                      <a:srgbClr val="FFFFFF"/>
                    </a:solidFill>
                  </a:tcPr>
                </a:tc>
                <a:tc>
                  <a:txBody>
                    <a:bodyPr wrap="square"/>
                    <a:lstStyle/>
                    <a:p>
                      <a:pPr>
                        <a:defRPr sz="1000">
                          <a:solidFill>
                            <a:srgbClr val="212529"/>
                          </a:solidFill>
                        </a:defRPr>
                      </a:pPr>
                      <a:r>
                        <a:t>2 200</a:t>
                      </a:r>
                    </a:p>
                  </a:txBody>
                  <a:tcPr>
                    <a:solidFill>
                      <a:srgbClr val="FFFFFF"/>
                    </a:solidFill>
                  </a:tcPr>
                </a:tc>
                <a:tc>
                  <a:txBody>
                    <a:bodyPr wrap="square"/>
                    <a:lstStyle/>
                    <a:p>
                      <a:pPr>
                        <a:defRPr sz="1000">
                          <a:solidFill>
                            <a:srgbClr val="212529"/>
                          </a:solidFill>
                        </a:defRPr>
                      </a:pPr>
                      <a:r>
                        <a:t>2 300</a:t>
                      </a:r>
                    </a:p>
                  </a:txBody>
                  <a:tcPr>
                    <a:solidFill>
                      <a:srgbClr val="FFFFFF"/>
                    </a:solidFill>
                  </a:tcPr>
                </a:tc>
                <a:tc>
                  <a:txBody>
                    <a:bodyPr wrap="square"/>
                    <a:lstStyle/>
                    <a:p>
                      <a:pPr>
                        <a:defRPr sz="1000">
                          <a:solidFill>
                            <a:srgbClr val="212529"/>
                          </a:solidFill>
                        </a:defRPr>
                      </a:pPr>
                      <a:r>
                        <a:t>4 500</a:t>
                      </a:r>
                    </a:p>
                  </a:txBody>
                  <a:tcPr>
                    <a:solidFill>
                      <a:srgbClr val="FFFFFF"/>
                    </a:solidFill>
                  </a:tcPr>
                </a:tc>
              </a:tr>
            </a:tbl>
          </a:graphicData>
        </a:graphic>
      </p:graphicFrame>
      <p:sp>
        <p:nvSpPr>
          <p:cNvPr id="10" name="TextBox 9"/>
          <p:cNvSpPr txBox="1"/>
          <p:nvPr/>
        </p:nvSpPr>
        <p:spPr>
          <a:xfrm>
            <a:off x="411480" y="4892040"/>
            <a:ext cx="5029200" cy="274320"/>
          </a:xfrm>
          <a:prstGeom prst="rect">
            <a:avLst/>
          </a:prstGeom>
          <a:noFill/>
        </p:spPr>
        <p:txBody>
          <a:bodyPr wrap="none">
            <a:spAutoFit/>
          </a:bodyPr>
          <a:lstStyle/>
          <a:p>
            <a:pPr>
              <a:defRPr sz="1300" b="1">
                <a:solidFill>
                  <a:srgbClr val="0B2B54"/>
                </a:solidFill>
              </a:defRPr>
            </a:pPr>
            <a:r>
              <a:t>Cash flow iki 2030 (kEUR)</a:t>
            </a:r>
          </a:p>
        </p:txBody>
      </p:sp>
      <p:graphicFrame>
        <p:nvGraphicFramePr>
          <p:cNvPr id="11" name="Table 10"/>
          <p:cNvGraphicFramePr>
            <a:graphicFrameLocks noGrp="1"/>
          </p:cNvGraphicFramePr>
          <p:nvPr/>
        </p:nvGraphicFramePr>
        <p:xfrm>
          <a:off x="411480" y="5166360"/>
          <a:ext cx="5806440" cy="1325880"/>
        </p:xfrm>
        <a:graphic>
          <a:graphicData uri="http://schemas.openxmlformats.org/drawingml/2006/table">
            <a:tbl>
              <a:tblPr firstRow="1" bandRow="1">
                <a:tableStyleId>{5C22544A-7EE6-4342-B048-85BDC9FD1C3A}</a:tableStyleId>
              </a:tblPr>
              <a:tblGrid>
                <a:gridCol w="1161288"/>
                <a:gridCol w="1161288"/>
                <a:gridCol w="1161288"/>
                <a:gridCol w="1161288"/>
                <a:gridCol w="1161288"/>
              </a:tblGrid>
              <a:tr h="331470">
                <a:tc>
                  <a:txBody>
                    <a:bodyPr wrap="square"/>
                    <a:lstStyle/>
                    <a:p>
                      <a:pPr>
                        <a:defRPr sz="900" b="1">
                          <a:solidFill>
                            <a:srgbClr val="FFFFFF"/>
                          </a:solidFill>
                        </a:defRPr>
                      </a:pPr>
                      <a:r>
                        <a:t>Scenarijus</a:t>
                      </a:r>
                    </a:p>
                  </a:txBody>
                  <a:tcPr>
                    <a:solidFill>
                      <a:srgbClr val="0B2B54"/>
                    </a:solidFill>
                  </a:tcPr>
                </a:tc>
                <a:tc>
                  <a:txBody>
                    <a:bodyPr wrap="square"/>
                    <a:lstStyle/>
                    <a:p>
                      <a:pPr>
                        <a:defRPr sz="900" b="1">
                          <a:solidFill>
                            <a:srgbClr val="FFFFFF"/>
                          </a:solidFill>
                        </a:defRPr>
                      </a:pPr>
                      <a:r>
                        <a:t>Investicija</a:t>
                      </a:r>
                    </a:p>
                  </a:txBody>
                  <a:tcPr>
                    <a:solidFill>
                      <a:srgbClr val="0B2B54"/>
                    </a:solidFill>
                  </a:tcPr>
                </a:tc>
                <a:tc>
                  <a:txBody>
                    <a:bodyPr wrap="square"/>
                    <a:lstStyle/>
                    <a:p>
                      <a:pPr>
                        <a:defRPr sz="900" b="1">
                          <a:solidFill>
                            <a:srgbClr val="FFFFFF"/>
                          </a:solidFill>
                        </a:defRPr>
                      </a:pPr>
                      <a:r>
                        <a:t>Nauda</a:t>
                      </a:r>
                    </a:p>
                  </a:txBody>
                  <a:tcPr>
                    <a:solidFill>
                      <a:srgbClr val="0B2B54"/>
                    </a:solidFill>
                  </a:tcPr>
                </a:tc>
                <a:tc>
                  <a:txBody>
                    <a:bodyPr wrap="square"/>
                    <a:lstStyle/>
                    <a:p>
                      <a:pPr>
                        <a:defRPr sz="900" b="1">
                          <a:solidFill>
                            <a:srgbClr val="FFFFFF"/>
                          </a:solidFill>
                        </a:defRPr>
                      </a:pPr>
                      <a:r>
                        <a:t>Neto iki 2030</a:t>
                      </a:r>
                    </a:p>
                  </a:txBody>
                  <a:tcPr>
                    <a:solidFill>
                      <a:srgbClr val="0B2B54"/>
                    </a:solidFill>
                  </a:tcPr>
                </a:tc>
                <a:tc>
                  <a:txBody>
                    <a:bodyPr wrap="square"/>
                    <a:lstStyle/>
                    <a:p>
                      <a:pPr>
                        <a:defRPr sz="900" b="1">
                          <a:solidFill>
                            <a:srgbClr val="FFFFFF"/>
                          </a:solidFill>
                        </a:defRPr>
                      </a:pPr>
                      <a:r>
                        <a:t>2031+ metinė nauda</a:t>
                      </a:r>
                    </a:p>
                  </a:txBody>
                  <a:tcPr>
                    <a:solidFill>
                      <a:srgbClr val="0B2B54"/>
                    </a:solidFill>
                  </a:tcPr>
                </a:tc>
              </a:tr>
              <a:tr h="331470">
                <a:tc>
                  <a:txBody>
                    <a:bodyPr wrap="square"/>
                    <a:lstStyle/>
                    <a:p>
                      <a:pPr>
                        <a:defRPr sz="900">
                          <a:solidFill>
                            <a:srgbClr val="212529"/>
                          </a:solidFill>
                        </a:defRPr>
                      </a:pPr>
                      <a:r>
                        <a:t>1</a:t>
                      </a:r>
                    </a:p>
                  </a:txBody>
                  <a:tcPr>
                    <a:solidFill>
                      <a:srgbClr val="FFFFFF"/>
                    </a:solidFill>
                  </a:tcPr>
                </a:tc>
                <a:tc>
                  <a:txBody>
                    <a:bodyPr wrap="square"/>
                    <a:lstStyle/>
                    <a:p>
                      <a:pPr>
                        <a:defRPr sz="900">
                          <a:solidFill>
                            <a:srgbClr val="212529"/>
                          </a:solidFill>
                        </a:defRPr>
                      </a:pPr>
                      <a:r>
                        <a:t>3 780</a:t>
                      </a:r>
                    </a:p>
                  </a:txBody>
                  <a:tcPr>
                    <a:solidFill>
                      <a:srgbClr val="FFFFFF"/>
                    </a:solidFill>
                  </a:tcPr>
                </a:tc>
                <a:tc>
                  <a:txBody>
                    <a:bodyPr wrap="square"/>
                    <a:lstStyle/>
                    <a:p>
                      <a:pPr>
                        <a:defRPr sz="900">
                          <a:solidFill>
                            <a:srgbClr val="212529"/>
                          </a:solidFill>
                        </a:defRPr>
                      </a:pPr>
                      <a:r>
                        <a:t>1 650</a:t>
                      </a:r>
                    </a:p>
                  </a:txBody>
                  <a:tcPr>
                    <a:solidFill>
                      <a:srgbClr val="FFFFFF"/>
                    </a:solidFill>
                  </a:tcPr>
                </a:tc>
                <a:tc>
                  <a:txBody>
                    <a:bodyPr wrap="square"/>
                    <a:lstStyle/>
                    <a:p>
                      <a:pPr>
                        <a:defRPr sz="900">
                          <a:solidFill>
                            <a:srgbClr val="212529"/>
                          </a:solidFill>
                        </a:defRPr>
                      </a:pPr>
                      <a:r>
                        <a:t>-2 130</a:t>
                      </a:r>
                    </a:p>
                  </a:txBody>
                  <a:tcPr>
                    <a:solidFill>
                      <a:srgbClr val="FFFFFF"/>
                    </a:solidFill>
                  </a:tcPr>
                </a:tc>
                <a:tc>
                  <a:txBody>
                    <a:bodyPr wrap="square"/>
                    <a:lstStyle/>
                    <a:p>
                      <a:pPr>
                        <a:defRPr sz="900">
                          <a:solidFill>
                            <a:srgbClr val="212529"/>
                          </a:solidFill>
                        </a:defRPr>
                      </a:pPr>
                      <a:r>
                        <a:t>~750 kEUR / m.</a:t>
                      </a:r>
                    </a:p>
                  </a:txBody>
                  <a:tcPr>
                    <a:solidFill>
                      <a:srgbClr val="FFFFFF"/>
                    </a:solidFill>
                  </a:tcPr>
                </a:tc>
              </a:tr>
              <a:tr h="331470">
                <a:tc>
                  <a:txBody>
                    <a:bodyPr wrap="square"/>
                    <a:lstStyle/>
                    <a:p>
                      <a:pPr>
                        <a:defRPr sz="900">
                          <a:solidFill>
                            <a:srgbClr val="212529"/>
                          </a:solidFill>
                        </a:defRPr>
                      </a:pPr>
                      <a:r>
                        <a:t>2</a:t>
                      </a:r>
                    </a:p>
                  </a:txBody>
                  <a:tcPr>
                    <a:solidFill>
                      <a:srgbClr val="F8FBFF"/>
                    </a:solidFill>
                  </a:tcPr>
                </a:tc>
                <a:tc>
                  <a:txBody>
                    <a:bodyPr wrap="square"/>
                    <a:lstStyle/>
                    <a:p>
                      <a:pPr>
                        <a:defRPr sz="900">
                          <a:solidFill>
                            <a:srgbClr val="212529"/>
                          </a:solidFill>
                        </a:defRPr>
                      </a:pPr>
                      <a:r>
                        <a:t>4 010</a:t>
                      </a:r>
                    </a:p>
                  </a:txBody>
                  <a:tcPr>
                    <a:solidFill>
                      <a:srgbClr val="F8FBFF"/>
                    </a:solidFill>
                  </a:tcPr>
                </a:tc>
                <a:tc>
                  <a:txBody>
                    <a:bodyPr wrap="square"/>
                    <a:lstStyle/>
                    <a:p>
                      <a:pPr>
                        <a:defRPr sz="900">
                          <a:solidFill>
                            <a:srgbClr val="212529"/>
                          </a:solidFill>
                        </a:defRPr>
                      </a:pPr>
                      <a:r>
                        <a:t>2 850</a:t>
                      </a:r>
                    </a:p>
                  </a:txBody>
                  <a:tcPr>
                    <a:solidFill>
                      <a:srgbClr val="F8FBFF"/>
                    </a:solidFill>
                  </a:tcPr>
                </a:tc>
                <a:tc>
                  <a:txBody>
                    <a:bodyPr wrap="square"/>
                    <a:lstStyle/>
                    <a:p>
                      <a:pPr>
                        <a:defRPr sz="900">
                          <a:solidFill>
                            <a:srgbClr val="212529"/>
                          </a:solidFill>
                        </a:defRPr>
                      </a:pPr>
                      <a:r>
                        <a:t>-1 160</a:t>
                      </a:r>
                    </a:p>
                  </a:txBody>
                  <a:tcPr>
                    <a:solidFill>
                      <a:srgbClr val="F8FBFF"/>
                    </a:solidFill>
                  </a:tcPr>
                </a:tc>
                <a:tc>
                  <a:txBody>
                    <a:bodyPr wrap="square"/>
                    <a:lstStyle/>
                    <a:p>
                      <a:pPr>
                        <a:defRPr sz="900">
                          <a:solidFill>
                            <a:srgbClr val="212529"/>
                          </a:solidFill>
                        </a:defRPr>
                      </a:pPr>
                      <a:r>
                        <a:t>~1 450 kEUR / m.</a:t>
                      </a:r>
                    </a:p>
                  </a:txBody>
                  <a:tcPr>
                    <a:solidFill>
                      <a:srgbClr val="F8FBFF"/>
                    </a:solidFill>
                  </a:tcPr>
                </a:tc>
              </a:tr>
              <a:tr h="331470">
                <a:tc>
                  <a:txBody>
                    <a:bodyPr wrap="square"/>
                    <a:lstStyle/>
                    <a:p>
                      <a:pPr>
                        <a:defRPr sz="900">
                          <a:solidFill>
                            <a:srgbClr val="212529"/>
                          </a:solidFill>
                        </a:defRPr>
                      </a:pPr>
                      <a:r>
                        <a:t>3</a:t>
                      </a:r>
                    </a:p>
                  </a:txBody>
                  <a:tcPr>
                    <a:solidFill>
                      <a:srgbClr val="FFFFFF"/>
                    </a:solidFill>
                  </a:tcPr>
                </a:tc>
                <a:tc>
                  <a:txBody>
                    <a:bodyPr wrap="square"/>
                    <a:lstStyle/>
                    <a:p>
                      <a:pPr>
                        <a:defRPr sz="900">
                          <a:solidFill>
                            <a:srgbClr val="212529"/>
                          </a:solidFill>
                        </a:defRPr>
                      </a:pPr>
                      <a:r>
                        <a:t>6 060</a:t>
                      </a:r>
                    </a:p>
                  </a:txBody>
                  <a:tcPr>
                    <a:solidFill>
                      <a:srgbClr val="FFFFFF"/>
                    </a:solidFill>
                  </a:tcPr>
                </a:tc>
                <a:tc>
                  <a:txBody>
                    <a:bodyPr wrap="square"/>
                    <a:lstStyle/>
                    <a:p>
                      <a:pPr>
                        <a:defRPr sz="900">
                          <a:solidFill>
                            <a:srgbClr val="212529"/>
                          </a:solidFill>
                        </a:defRPr>
                      </a:pPr>
                      <a:r>
                        <a:t>4 500</a:t>
                      </a:r>
                    </a:p>
                  </a:txBody>
                  <a:tcPr>
                    <a:solidFill>
                      <a:srgbClr val="FFFFFF"/>
                    </a:solidFill>
                  </a:tcPr>
                </a:tc>
                <a:tc>
                  <a:txBody>
                    <a:bodyPr wrap="square"/>
                    <a:lstStyle/>
                    <a:p>
                      <a:pPr>
                        <a:defRPr sz="900">
                          <a:solidFill>
                            <a:srgbClr val="212529"/>
                          </a:solidFill>
                        </a:defRPr>
                      </a:pPr>
                      <a:r>
                        <a:t>-1 560</a:t>
                      </a:r>
                    </a:p>
                  </a:txBody>
                  <a:tcPr>
                    <a:solidFill>
                      <a:srgbClr val="FFFFFF"/>
                    </a:solidFill>
                  </a:tcPr>
                </a:tc>
                <a:tc>
                  <a:txBody>
                    <a:bodyPr wrap="square"/>
                    <a:lstStyle/>
                    <a:p>
                      <a:pPr>
                        <a:defRPr sz="900">
                          <a:solidFill>
                            <a:srgbClr val="212529"/>
                          </a:solidFill>
                        </a:defRPr>
                      </a:pPr>
                      <a:r>
                        <a:t>~2 350 kEUR / m.</a:t>
                      </a:r>
                    </a:p>
                  </a:txBody>
                  <a:tcPr>
                    <a:solidFill>
                      <a:srgbClr val="FFFFFF"/>
                    </a:solidFill>
                  </a:tcPr>
                </a:tc>
              </a:tr>
            </a:tbl>
          </a:graphicData>
        </a:graphic>
      </p:graphicFrame>
      <p:sp>
        <p:nvSpPr>
          <p:cNvPr id="12" name="Rounded Rectangle 11"/>
          <p:cNvSpPr/>
          <p:nvPr/>
        </p:nvSpPr>
        <p:spPr>
          <a:xfrm>
            <a:off x="6446520" y="960120"/>
            <a:ext cx="5349240" cy="5532120"/>
          </a:xfrm>
          <a:prstGeom prst="roundRect">
            <a:avLst/>
          </a:prstGeom>
          <a:solidFill>
            <a:srgbClr val="FFFFFF"/>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143000"/>
            <a:ext cx="4937760" cy="320040"/>
          </a:xfrm>
          <a:prstGeom prst="rect">
            <a:avLst/>
          </a:prstGeom>
          <a:noFill/>
        </p:spPr>
        <p:txBody>
          <a:bodyPr wrap="none">
            <a:spAutoFit/>
          </a:bodyPr>
          <a:lstStyle/>
          <a:p>
            <a:pPr>
              <a:defRPr sz="1300" b="1">
                <a:solidFill>
                  <a:srgbClr val="0B2B54"/>
                </a:solidFill>
              </a:defRPr>
            </a:pPr>
            <a:r>
              <a:t>Investicija vs nauda iki 2030</a:t>
            </a:r>
          </a:p>
        </p:txBody>
      </p:sp>
      <p:sp>
        <p:nvSpPr>
          <p:cNvPr id="14" name="TextBox 13"/>
          <p:cNvSpPr txBox="1"/>
          <p:nvPr/>
        </p:nvSpPr>
        <p:spPr>
          <a:xfrm>
            <a:off x="6629400" y="1645920"/>
            <a:ext cx="365760" cy="182880"/>
          </a:xfrm>
          <a:prstGeom prst="rect">
            <a:avLst/>
          </a:prstGeom>
          <a:noFill/>
        </p:spPr>
        <p:txBody>
          <a:bodyPr wrap="none">
            <a:spAutoFit/>
          </a:bodyPr>
          <a:lstStyle/>
          <a:p>
            <a:pPr>
              <a:defRPr sz="1100" b="1">
                <a:solidFill>
                  <a:srgbClr val="212529"/>
                </a:solidFill>
              </a:defRPr>
            </a:pPr>
            <a:r>
              <a:t>S1</a:t>
            </a:r>
          </a:p>
        </p:txBody>
      </p:sp>
      <p:sp>
        <p:nvSpPr>
          <p:cNvPr id="15" name="Rectangle 14"/>
          <p:cNvSpPr/>
          <p:nvPr/>
        </p:nvSpPr>
        <p:spPr>
          <a:xfrm>
            <a:off x="7040880" y="1645920"/>
            <a:ext cx="1310099" cy="292608"/>
          </a:xfrm>
          <a:prstGeom prst="rect">
            <a:avLst/>
          </a:prstGeom>
          <a:solidFill>
            <a:srgbClr val="AA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1645920"/>
            <a:ext cx="571868" cy="29260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6699" y="1645920"/>
            <a:ext cx="1005840" cy="182880"/>
          </a:xfrm>
          <a:prstGeom prst="rect">
            <a:avLst/>
          </a:prstGeom>
          <a:noFill/>
        </p:spPr>
        <p:txBody>
          <a:bodyPr wrap="none">
            <a:spAutoFit/>
          </a:bodyPr>
          <a:lstStyle/>
          <a:p>
            <a:pPr>
              <a:defRPr sz="900" b="0">
                <a:solidFill>
                  <a:srgbClr val="212529"/>
                </a:solidFill>
              </a:defRPr>
            </a:pPr>
            <a:r>
              <a:t>3780</a:t>
            </a:r>
          </a:p>
        </p:txBody>
      </p:sp>
      <p:sp>
        <p:nvSpPr>
          <p:cNvPr id="18" name="TextBox 17"/>
          <p:cNvSpPr txBox="1"/>
          <p:nvPr/>
        </p:nvSpPr>
        <p:spPr>
          <a:xfrm>
            <a:off x="9944468" y="1645920"/>
            <a:ext cx="1005840" cy="182880"/>
          </a:xfrm>
          <a:prstGeom prst="rect">
            <a:avLst/>
          </a:prstGeom>
          <a:noFill/>
        </p:spPr>
        <p:txBody>
          <a:bodyPr wrap="none">
            <a:spAutoFit/>
          </a:bodyPr>
          <a:lstStyle/>
          <a:p>
            <a:pPr>
              <a:defRPr sz="900" b="0">
                <a:solidFill>
                  <a:srgbClr val="212529"/>
                </a:solidFill>
              </a:defRPr>
            </a:pPr>
            <a:r>
              <a:t>1650</a:t>
            </a:r>
          </a:p>
        </p:txBody>
      </p:sp>
      <p:sp>
        <p:nvSpPr>
          <p:cNvPr id="19" name="TextBox 18"/>
          <p:cNvSpPr txBox="1"/>
          <p:nvPr/>
        </p:nvSpPr>
        <p:spPr>
          <a:xfrm>
            <a:off x="6629400" y="3063240"/>
            <a:ext cx="365760" cy="182880"/>
          </a:xfrm>
          <a:prstGeom prst="rect">
            <a:avLst/>
          </a:prstGeom>
          <a:noFill/>
        </p:spPr>
        <p:txBody>
          <a:bodyPr wrap="none">
            <a:spAutoFit/>
          </a:bodyPr>
          <a:lstStyle/>
          <a:p>
            <a:pPr>
              <a:defRPr sz="1100" b="1">
                <a:solidFill>
                  <a:srgbClr val="212529"/>
                </a:solidFill>
              </a:defRPr>
            </a:pPr>
            <a:r>
              <a:t>S2</a:t>
            </a:r>
          </a:p>
        </p:txBody>
      </p:sp>
      <p:sp>
        <p:nvSpPr>
          <p:cNvPr id="20" name="Rectangle 19"/>
          <p:cNvSpPr/>
          <p:nvPr/>
        </p:nvSpPr>
        <p:spPr>
          <a:xfrm>
            <a:off x="7040880" y="3063240"/>
            <a:ext cx="1389814" cy="292608"/>
          </a:xfrm>
          <a:prstGeom prst="rect">
            <a:avLst/>
          </a:prstGeom>
          <a:solidFill>
            <a:srgbClr val="AA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0" y="3063240"/>
            <a:ext cx="987773" cy="29260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76414" y="3063240"/>
            <a:ext cx="1005840" cy="182880"/>
          </a:xfrm>
          <a:prstGeom prst="rect">
            <a:avLst/>
          </a:prstGeom>
          <a:noFill/>
        </p:spPr>
        <p:txBody>
          <a:bodyPr wrap="none">
            <a:spAutoFit/>
          </a:bodyPr>
          <a:lstStyle/>
          <a:p>
            <a:pPr>
              <a:defRPr sz="900" b="0">
                <a:solidFill>
                  <a:srgbClr val="212529"/>
                </a:solidFill>
              </a:defRPr>
            </a:pPr>
            <a:r>
              <a:t>4010</a:t>
            </a:r>
          </a:p>
        </p:txBody>
      </p:sp>
      <p:sp>
        <p:nvSpPr>
          <p:cNvPr id="23" name="TextBox 22"/>
          <p:cNvSpPr txBox="1"/>
          <p:nvPr/>
        </p:nvSpPr>
        <p:spPr>
          <a:xfrm>
            <a:off x="10360373" y="3063240"/>
            <a:ext cx="1005840" cy="182880"/>
          </a:xfrm>
          <a:prstGeom prst="rect">
            <a:avLst/>
          </a:prstGeom>
          <a:noFill/>
        </p:spPr>
        <p:txBody>
          <a:bodyPr wrap="none">
            <a:spAutoFit/>
          </a:bodyPr>
          <a:lstStyle/>
          <a:p>
            <a:pPr>
              <a:defRPr sz="900" b="0">
                <a:solidFill>
                  <a:srgbClr val="212529"/>
                </a:solidFill>
              </a:defRPr>
            </a:pPr>
            <a:r>
              <a:t>2850</a:t>
            </a:r>
          </a:p>
        </p:txBody>
      </p:sp>
      <p:sp>
        <p:nvSpPr>
          <p:cNvPr id="24" name="TextBox 23"/>
          <p:cNvSpPr txBox="1"/>
          <p:nvPr/>
        </p:nvSpPr>
        <p:spPr>
          <a:xfrm>
            <a:off x="6629400" y="4480560"/>
            <a:ext cx="365760" cy="182880"/>
          </a:xfrm>
          <a:prstGeom prst="rect">
            <a:avLst/>
          </a:prstGeom>
          <a:noFill/>
        </p:spPr>
        <p:txBody>
          <a:bodyPr wrap="none">
            <a:spAutoFit/>
          </a:bodyPr>
          <a:lstStyle/>
          <a:p>
            <a:pPr>
              <a:defRPr sz="1100" b="1">
                <a:solidFill>
                  <a:srgbClr val="212529"/>
                </a:solidFill>
              </a:defRPr>
            </a:pPr>
            <a:r>
              <a:t>S3</a:t>
            </a:r>
          </a:p>
        </p:txBody>
      </p:sp>
      <p:sp>
        <p:nvSpPr>
          <p:cNvPr id="25" name="Rectangle 24"/>
          <p:cNvSpPr/>
          <p:nvPr/>
        </p:nvSpPr>
        <p:spPr>
          <a:xfrm>
            <a:off x="7040880" y="4480560"/>
            <a:ext cx="2100317" cy="292608"/>
          </a:xfrm>
          <a:prstGeom prst="rect">
            <a:avLst/>
          </a:prstGeom>
          <a:solidFill>
            <a:srgbClr val="AAB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26880" y="4480560"/>
            <a:ext cx="1559641" cy="2926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6917" y="4480560"/>
            <a:ext cx="1005840" cy="182880"/>
          </a:xfrm>
          <a:prstGeom prst="rect">
            <a:avLst/>
          </a:prstGeom>
          <a:noFill/>
        </p:spPr>
        <p:txBody>
          <a:bodyPr wrap="none">
            <a:spAutoFit/>
          </a:bodyPr>
          <a:lstStyle/>
          <a:p>
            <a:pPr>
              <a:defRPr sz="900" b="0">
                <a:solidFill>
                  <a:srgbClr val="212529"/>
                </a:solidFill>
              </a:defRPr>
            </a:pPr>
            <a:r>
              <a:t>6060</a:t>
            </a:r>
          </a:p>
        </p:txBody>
      </p:sp>
      <p:sp>
        <p:nvSpPr>
          <p:cNvPr id="28" name="TextBox 27"/>
          <p:cNvSpPr txBox="1"/>
          <p:nvPr/>
        </p:nvSpPr>
        <p:spPr>
          <a:xfrm>
            <a:off x="10932241" y="4480560"/>
            <a:ext cx="1005840" cy="182880"/>
          </a:xfrm>
          <a:prstGeom prst="rect">
            <a:avLst/>
          </a:prstGeom>
          <a:noFill/>
        </p:spPr>
        <p:txBody>
          <a:bodyPr wrap="none">
            <a:spAutoFit/>
          </a:bodyPr>
          <a:lstStyle/>
          <a:p>
            <a:pPr>
              <a:defRPr sz="900" b="0">
                <a:solidFill>
                  <a:srgbClr val="212529"/>
                </a:solidFill>
              </a:defRPr>
            </a:pPr>
            <a:r>
              <a:t>4500</a:t>
            </a:r>
          </a:p>
        </p:txBody>
      </p:sp>
      <p:sp>
        <p:nvSpPr>
          <p:cNvPr id="29" name="TextBox 28"/>
          <p:cNvSpPr txBox="1"/>
          <p:nvPr/>
        </p:nvSpPr>
        <p:spPr>
          <a:xfrm>
            <a:off x="7040880" y="1481328"/>
            <a:ext cx="2011680" cy="182880"/>
          </a:xfrm>
          <a:prstGeom prst="rect">
            <a:avLst/>
          </a:prstGeom>
          <a:noFill/>
        </p:spPr>
        <p:txBody>
          <a:bodyPr wrap="none">
            <a:spAutoFit/>
          </a:bodyPr>
          <a:lstStyle/>
          <a:p>
            <a:pPr>
              <a:defRPr sz="900" b="0">
                <a:solidFill>
                  <a:srgbClr val="5A626C"/>
                </a:solidFill>
              </a:defRPr>
            </a:pPr>
            <a:r>
              <a:t>Investicija</a:t>
            </a:r>
          </a:p>
        </p:txBody>
      </p:sp>
      <p:sp>
        <p:nvSpPr>
          <p:cNvPr id="30" name="TextBox 29"/>
          <p:cNvSpPr txBox="1"/>
          <p:nvPr/>
        </p:nvSpPr>
        <p:spPr>
          <a:xfrm>
            <a:off x="9326880" y="1481328"/>
            <a:ext cx="2011680" cy="182880"/>
          </a:xfrm>
          <a:prstGeom prst="rect">
            <a:avLst/>
          </a:prstGeom>
          <a:noFill/>
        </p:spPr>
        <p:txBody>
          <a:bodyPr wrap="none">
            <a:spAutoFit/>
          </a:bodyPr>
          <a:lstStyle/>
          <a:p>
            <a:pPr>
              <a:defRPr sz="900" b="0">
                <a:solidFill>
                  <a:srgbClr val="5A626C"/>
                </a:solidFill>
              </a:defRPr>
            </a:pPr>
            <a:r>
              <a:t>Nauda</a:t>
            </a:r>
          </a:p>
        </p:txBody>
      </p:sp>
      <p:sp>
        <p:nvSpPr>
          <p:cNvPr id="31" name="Rounded Rectangle 30"/>
          <p:cNvSpPr/>
          <p:nvPr/>
        </p:nvSpPr>
        <p:spPr>
          <a:xfrm>
            <a:off x="6629400" y="5486400"/>
            <a:ext cx="4892040" cy="96012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5705856"/>
            <a:ext cx="4572000" cy="548640"/>
          </a:xfrm>
          <a:prstGeom prst="rect">
            <a:avLst/>
          </a:prstGeom>
          <a:noFill/>
        </p:spPr>
        <p:txBody>
          <a:bodyPr wrap="none">
            <a:spAutoFit/>
          </a:bodyPr>
          <a:lstStyle/>
          <a:p>
            <a:pPr>
              <a:defRPr sz="1100" b="1">
                <a:solidFill>
                  <a:srgbClr val="0B2B54"/>
                </a:solidFill>
              </a:defRPr>
            </a:pPr>
            <a:r>
              <a:t>Išvada: 2 scenarijus vs 1 scenarijų</a:t>
            </a:r>
          </a:p>
          <a:p>
            <a:pPr>
              <a:defRPr sz="1100" b="0">
                <a:solidFill>
                  <a:srgbClr val="0B2B54"/>
                </a:solidFill>
              </a:defRPr>
            </a:pPr>
            <a:r>
              <a:t>+230 kEUR investicija → +1,2 mln. EUR daugiau naudos iki 2030</a:t>
            </a:r>
          </a:p>
        </p:txBody>
      </p:sp>
      <p:sp>
        <p:nvSpPr>
          <p:cNvPr id="33" name="TextBox 32"/>
          <p:cNvSpPr txBox="1"/>
          <p:nvPr/>
        </p:nvSpPr>
        <p:spPr>
          <a:xfrm>
            <a:off x="411480" y="6537960"/>
            <a:ext cx="11338560" cy="182880"/>
          </a:xfrm>
          <a:prstGeom prst="rect">
            <a:avLst/>
          </a:prstGeom>
          <a:noFill/>
        </p:spPr>
        <p:txBody>
          <a:bodyPr wrap="none">
            <a:spAutoFit/>
          </a:bodyPr>
          <a:lstStyle/>
          <a:p>
            <a:pPr>
              <a:defRPr sz="800" b="0">
                <a:solidFill>
                  <a:srgbClr val="5A626C"/>
                </a:solidFill>
              </a:defRPr>
            </a:pPr>
            <a:r>
              <a:t>*Produktų nauda yra indikatyvi ir susijusi su hipotetiniais, šiuo metu nepatvirtintais produktais. Scenarijų biudžetai pateikiami kaip papildoma investicija 2027–2030 m. po EENĮ anchor etapo.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EENĮ jau įrodė organizacinį įsisavinimą; roadmap rodo paklausą; pagrindinė rizika – ne technologija, o disciplinuotas vykdymas</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9</a:t>
            </a:r>
          </a:p>
        </p:txBody>
      </p:sp>
      <p:sp>
        <p:nvSpPr>
          <p:cNvPr id="6" name="Rounded Rectangle 5"/>
          <p:cNvSpPr/>
          <p:nvPr/>
        </p:nvSpPr>
        <p:spPr>
          <a:xfrm>
            <a:off x="411480" y="960120"/>
            <a:ext cx="5669280" cy="448056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5212080" cy="320040"/>
          </a:xfrm>
          <a:prstGeom prst="rect">
            <a:avLst/>
          </a:prstGeom>
          <a:noFill/>
        </p:spPr>
        <p:txBody>
          <a:bodyPr wrap="none">
            <a:spAutoFit/>
          </a:bodyPr>
          <a:lstStyle/>
          <a:p>
            <a:pPr>
              <a:defRPr sz="1500" b="1">
                <a:solidFill>
                  <a:srgbClr val="0B2B54"/>
                </a:solidFill>
              </a:defRPr>
            </a:pPr>
            <a:r>
              <a:t>Kiti įrodymai, kad TDM kryptis pagrįsta</a:t>
            </a:r>
          </a:p>
        </p:txBody>
      </p:sp>
      <p:sp>
        <p:nvSpPr>
          <p:cNvPr id="8" name="TextBox 7"/>
          <p:cNvSpPr txBox="1"/>
          <p:nvPr/>
        </p:nvSpPr>
        <p:spPr>
          <a:xfrm>
            <a:off x="640080" y="1554480"/>
            <a:ext cx="5212080" cy="3611880"/>
          </a:xfrm>
          <a:prstGeom prst="rect">
            <a:avLst/>
          </a:prstGeom>
          <a:noFill/>
        </p:spPr>
        <p:txBody>
          <a:bodyPr wrap="none">
            <a:spAutoFit/>
          </a:bodyPr>
          <a:lstStyle/>
          <a:p>
            <a:pPr>
              <a:defRPr sz="1200" b="0">
                <a:solidFill>
                  <a:srgbClr val="212529"/>
                </a:solidFill>
              </a:defRPr>
            </a:pPr>
            <a:r>
              <a:t>- EENĮ jau parodė, kad tinklo duomenų pagrindu galima sukurti reikšmingą produktą</a:t>
            </a:r>
          </a:p>
          <a:p>
            <a:pPr>
              <a:defRPr sz="1200" b="0">
                <a:solidFill>
                  <a:srgbClr val="212529"/>
                </a:solidFill>
              </a:defRPr>
            </a:pPr>
            <a:r>
              <a:t>- 2030+ roadmap rodo aiškų potencialių produktų portfelį:</a:t>
            </a:r>
          </a:p>
          <a:p>
            <a:pPr>
              <a:defRPr sz="1200" b="0">
                <a:solidFill>
                  <a:srgbClr val="212529"/>
                </a:solidFill>
              </a:defRPr>
            </a:pPr>
            <a:r>
              <a:t>  • Generacijų žemėlapis</a:t>
            </a:r>
          </a:p>
          <a:p>
            <a:pPr>
              <a:defRPr sz="1200" b="0">
                <a:solidFill>
                  <a:srgbClr val="212529"/>
                </a:solidFill>
              </a:defRPr>
            </a:pPr>
            <a:r>
              <a:t>  • Laisvų galių žemėlapis</a:t>
            </a:r>
          </a:p>
          <a:p>
            <a:pPr>
              <a:defRPr sz="1200" b="0">
                <a:solidFill>
                  <a:srgbClr val="212529"/>
                </a:solidFill>
              </a:defRPr>
            </a:pPr>
            <a:r>
              <a:t>  • Vartotojų profiliavimas</a:t>
            </a:r>
          </a:p>
          <a:p>
            <a:pPr>
              <a:defRPr sz="1200" b="0">
                <a:solidFill>
                  <a:srgbClr val="212529"/>
                </a:solidFill>
              </a:defRPr>
            </a:pPr>
            <a:r>
              <a:t>  • Apkrovų modeliavimas</a:t>
            </a:r>
          </a:p>
          <a:p>
            <a:pPr>
              <a:defRPr sz="1200" b="0">
                <a:solidFill>
                  <a:srgbClr val="212529"/>
                </a:solidFill>
              </a:defRPr>
            </a:pPr>
            <a:r>
              <a:t>  • Išmanaus tinklo defektavimas</a:t>
            </a:r>
          </a:p>
          <a:p>
            <a:pPr>
              <a:defRPr sz="1200" b="0">
                <a:solidFill>
                  <a:srgbClr val="212529"/>
                </a:solidFill>
              </a:defRPr>
            </a:pPr>
            <a:r>
              <a:t>  • Rekonstrukcijų planas ir kt.</a:t>
            </a:r>
          </a:p>
          <a:p>
            <a:pPr>
              <a:defRPr sz="1200" b="0">
                <a:solidFill>
                  <a:srgbClr val="212529"/>
                </a:solidFill>
              </a:defRPr>
            </a:pPr>
            <a:r>
              <a:t>- Tai reiškia, kad TDM turi paklausą ne vienam produktui</a:t>
            </a:r>
          </a:p>
        </p:txBody>
      </p:sp>
      <p:sp>
        <p:nvSpPr>
          <p:cNvPr id="9" name="Rounded Rectangle 8"/>
          <p:cNvSpPr/>
          <p:nvPr/>
        </p:nvSpPr>
        <p:spPr>
          <a:xfrm>
            <a:off x="6263640" y="960120"/>
            <a:ext cx="5532120" cy="4480560"/>
          </a:xfrm>
          <a:prstGeom prst="roundRect">
            <a:avLst/>
          </a:prstGeom>
          <a:solidFill>
            <a:srgbClr val="ECF7FA"/>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143000"/>
            <a:ext cx="5120640" cy="320040"/>
          </a:xfrm>
          <a:prstGeom prst="rect">
            <a:avLst/>
          </a:prstGeom>
          <a:noFill/>
        </p:spPr>
        <p:txBody>
          <a:bodyPr wrap="none">
            <a:spAutoFit/>
          </a:bodyPr>
          <a:lstStyle/>
          <a:p>
            <a:pPr>
              <a:defRPr sz="1500" b="1">
                <a:solidFill>
                  <a:srgbClr val="0B2B54"/>
                </a:solidFill>
              </a:defRPr>
            </a:pPr>
            <a:r>
              <a:t>Pagrindinės rizikos</a:t>
            </a:r>
          </a:p>
        </p:txBody>
      </p:sp>
      <p:sp>
        <p:nvSpPr>
          <p:cNvPr id="11" name="TextBox 10"/>
          <p:cNvSpPr txBox="1"/>
          <p:nvPr/>
        </p:nvSpPr>
        <p:spPr>
          <a:xfrm>
            <a:off x="6492240" y="1554480"/>
            <a:ext cx="5120640" cy="1965960"/>
          </a:xfrm>
          <a:prstGeom prst="rect">
            <a:avLst/>
          </a:prstGeom>
          <a:noFill/>
        </p:spPr>
        <p:txBody>
          <a:bodyPr wrap="none">
            <a:spAutoFit/>
          </a:bodyPr>
          <a:lstStyle/>
          <a:p>
            <a:pPr>
              <a:defRPr sz="1200" b="0">
                <a:solidFill>
                  <a:srgbClr val="212529"/>
                </a:solidFill>
              </a:defRPr>
            </a:pPr>
            <a:r>
              <a:t>Neužtikrintas GPC bronze pajėgumas</a:t>
            </a:r>
          </a:p>
          <a:p>
            <a:pPr>
              <a:defRPr sz="1200" b="0">
                <a:solidFill>
                  <a:srgbClr val="212529"/>
                </a:solidFill>
              </a:defRPr>
            </a:pPr>
            <a:r>
              <a:t>Per mažas dėmesys DQ / governance / ownership</a:t>
            </a:r>
          </a:p>
          <a:p>
            <a:pPr>
              <a:defRPr sz="1200" b="0">
                <a:solidFill>
                  <a:srgbClr val="212529"/>
                </a:solidFill>
              </a:defRPr>
            </a:pPr>
            <a:r>
              <a:t>Scope creep</a:t>
            </a:r>
          </a:p>
          <a:p>
            <a:pPr>
              <a:defRPr sz="1200" b="0">
                <a:solidFill>
                  <a:srgbClr val="212529"/>
                </a:solidFill>
              </a:defRPr>
            </a:pPr>
            <a:r>
              <a:t>Reusable disciplinos nebuvimas</a:t>
            </a:r>
          </a:p>
          <a:p>
            <a:pPr>
              <a:defRPr sz="1200" b="0">
                <a:solidFill>
                  <a:srgbClr val="212529"/>
                </a:solidFill>
              </a:defRPr>
            </a:pPr>
            <a:r>
              <a:t>Per daug lokalių išimčių produkte</a:t>
            </a:r>
          </a:p>
        </p:txBody>
      </p:sp>
      <p:sp>
        <p:nvSpPr>
          <p:cNvPr id="12" name="Rounded Rectangle 11"/>
          <p:cNvSpPr/>
          <p:nvPr/>
        </p:nvSpPr>
        <p:spPr>
          <a:xfrm>
            <a:off x="6492240" y="3657600"/>
            <a:ext cx="5120640" cy="1554480"/>
          </a:xfrm>
          <a:prstGeom prst="roundRect">
            <a:avLst/>
          </a:prstGeom>
          <a:solidFill>
            <a:srgbClr val="FFFFFF"/>
          </a:solidFill>
          <a:ln w="1524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3886200"/>
            <a:ext cx="4754880" cy="1097280"/>
          </a:xfrm>
          <a:prstGeom prst="rect">
            <a:avLst/>
          </a:prstGeom>
          <a:noFill/>
        </p:spPr>
        <p:txBody>
          <a:bodyPr wrap="none">
            <a:spAutoFit/>
          </a:bodyPr>
          <a:lstStyle/>
          <a:p>
            <a:pPr>
              <a:defRPr sz="1100" b="0">
                <a:solidFill>
                  <a:srgbClr val="212529"/>
                </a:solidFill>
              </a:defRPr>
            </a:pPr>
            <a:r>
              <a:t>Kodėl rekomenduojamas 2 scenarijus</a:t>
            </a:r>
          </a:p>
          <a:p>
            <a:pPr>
              <a:defRPr sz="1100" b="0">
                <a:solidFill>
                  <a:srgbClr val="212529"/>
                </a:solidFill>
              </a:defRPr>
            </a:pPr>
            <a:r>
              <a:t>Geriausias kainos / vertės santykis</a:t>
            </a:r>
          </a:p>
          <a:p>
            <a:pPr>
              <a:defRPr sz="1100" b="0">
                <a:solidFill>
                  <a:srgbClr val="212529"/>
                </a:solidFill>
              </a:defRPr>
            </a:pPr>
            <a:r>
              <a:t>Nereikalauja iš karto pilnos transformacinės programos</a:t>
            </a:r>
          </a:p>
          <a:p>
            <a:pPr>
              <a:defRPr sz="1100" b="0">
                <a:solidFill>
                  <a:srgbClr val="212529"/>
                </a:solidFill>
              </a:defRPr>
            </a:pPr>
            <a:r>
              <a:t>Išnaudoja EENĮ kaip realų anchor use case</a:t>
            </a:r>
          </a:p>
          <a:p>
            <a:pPr>
              <a:defRPr sz="1100" b="0">
                <a:solidFill>
                  <a:srgbClr val="212529"/>
                </a:solidFill>
              </a:defRPr>
            </a:pPr>
            <a:r>
              <a:t>Leidžia vėliau pereiti į 3 scenarijų</a:t>
            </a:r>
          </a:p>
        </p:txBody>
      </p:sp>
      <p:sp>
        <p:nvSpPr>
          <p:cNvPr id="14" name="TextBox 13"/>
          <p:cNvSpPr txBox="1"/>
          <p:nvPr/>
        </p:nvSpPr>
        <p:spPr>
          <a:xfrm>
            <a:off x="640080" y="6355080"/>
            <a:ext cx="10972800" cy="182880"/>
          </a:xfrm>
          <a:prstGeom prst="rect">
            <a:avLst/>
          </a:prstGeom>
          <a:noFill/>
        </p:spPr>
        <p:txBody>
          <a:bodyPr wrap="none">
            <a:spAutoFit/>
          </a:bodyPr>
          <a:lstStyle/>
          <a:p>
            <a:pPr>
              <a:defRPr sz="800" b="0">
                <a:solidFill>
                  <a:srgbClr val="5A626C"/>
                </a:solidFill>
              </a:defRPr>
            </a:pPr>
            <a:r>
              <a:t>Pastaba: po EENĮ minimi produktai/modeliai yra hipotetiniai, šiuo metu nepatvirtinti ir nesuplanuoti; jie naudojami TDM vertės ir CBA logikos iliustravimui.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0B2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10789920" cy="420624"/>
          </a:xfrm>
          <a:prstGeom prst="rect">
            <a:avLst/>
          </a:prstGeom>
          <a:noFill/>
        </p:spPr>
        <p:txBody>
          <a:bodyPr wrap="none">
            <a:spAutoFit/>
          </a:bodyPr>
          <a:lstStyle/>
          <a:p>
            <a:pPr>
              <a:defRPr b="1" sz="2200">
                <a:solidFill>
                  <a:srgbClr val="FFFFFF"/>
                </a:solidFill>
              </a:defRPr>
            </a:pPr>
            <a:r>
              <a:t>Rekomendacija: patvirtinti 2 scenarijų, pirmą reuse use case po EENĮ ir 2027 m. reusable pagrindo biudžetą</a:t>
            </a:r>
          </a:p>
        </p:txBody>
      </p:sp>
      <p:sp>
        <p:nvSpPr>
          <p:cNvPr id="5" name="TextBox 4"/>
          <p:cNvSpPr txBox="1"/>
          <p:nvPr/>
        </p:nvSpPr>
        <p:spPr>
          <a:xfrm>
            <a:off x="11475720" y="164592"/>
            <a:ext cx="502920" cy="365760"/>
          </a:xfrm>
          <a:prstGeom prst="rect">
            <a:avLst/>
          </a:prstGeom>
          <a:noFill/>
        </p:spPr>
        <p:txBody>
          <a:bodyPr wrap="none">
            <a:spAutoFit/>
          </a:bodyPr>
          <a:lstStyle/>
          <a:p>
            <a:pPr algn="r">
              <a:defRPr sz="1400" b="1">
                <a:solidFill>
                  <a:srgbClr val="FFFFFF"/>
                </a:solidFill>
              </a:defRPr>
            </a:pPr>
            <a:r>
              <a:t>10</a:t>
            </a:r>
          </a:p>
        </p:txBody>
      </p:sp>
      <p:sp>
        <p:nvSpPr>
          <p:cNvPr id="6" name="Rounded Rectangle 5"/>
          <p:cNvSpPr/>
          <p:nvPr/>
        </p:nvSpPr>
        <p:spPr>
          <a:xfrm>
            <a:off x="411480" y="960120"/>
            <a:ext cx="6629400" cy="4663440"/>
          </a:xfrm>
          <a:prstGeom prst="roundRect">
            <a:avLst/>
          </a:prstGeom>
          <a:solidFill>
            <a:srgbClr val="E6EEF8"/>
          </a:solidFill>
          <a:ln w="15240">
            <a:solidFill>
              <a:srgbClr val="0B2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43000"/>
            <a:ext cx="6217920" cy="320040"/>
          </a:xfrm>
          <a:prstGeom prst="rect">
            <a:avLst/>
          </a:prstGeom>
          <a:noFill/>
        </p:spPr>
        <p:txBody>
          <a:bodyPr wrap="none">
            <a:spAutoFit/>
          </a:bodyPr>
          <a:lstStyle/>
          <a:p>
            <a:pPr>
              <a:defRPr sz="1500" b="1">
                <a:solidFill>
                  <a:srgbClr val="0B2B54"/>
                </a:solidFill>
              </a:defRPr>
            </a:pPr>
            <a:r>
              <a:t>Rekomenduojamas sprendimas: patvirtinti 2 scenarijų</a:t>
            </a:r>
          </a:p>
        </p:txBody>
      </p:sp>
      <p:sp>
        <p:nvSpPr>
          <p:cNvPr id="8" name="TextBox 7"/>
          <p:cNvSpPr txBox="1"/>
          <p:nvPr/>
        </p:nvSpPr>
        <p:spPr>
          <a:xfrm>
            <a:off x="658368" y="1554480"/>
            <a:ext cx="6217920" cy="1325880"/>
          </a:xfrm>
          <a:prstGeom prst="rect">
            <a:avLst/>
          </a:prstGeom>
          <a:noFill/>
        </p:spPr>
        <p:txBody>
          <a:bodyPr wrap="none">
            <a:spAutoFit/>
          </a:bodyPr>
          <a:lstStyle/>
          <a:p>
            <a:pPr>
              <a:defRPr sz="1200" b="0">
                <a:solidFill>
                  <a:srgbClr val="212529"/>
                </a:solidFill>
              </a:defRPr>
            </a:pPr>
            <a:r>
              <a:t>Išlaikyti 3+1 ESO DIK komandą</a:t>
            </a:r>
          </a:p>
          <a:p>
            <a:pPr>
              <a:defRPr sz="1200" b="0">
                <a:solidFill>
                  <a:srgbClr val="212529"/>
                </a:solidFill>
              </a:defRPr>
            </a:pPr>
            <a:r>
              <a:t>Užtikrinti adekvatų GPC bronze pajėgumą</a:t>
            </a:r>
          </a:p>
          <a:p>
            <a:pPr>
              <a:defRPr sz="1200" b="0">
                <a:solidFill>
                  <a:srgbClr val="212529"/>
                </a:solidFill>
              </a:defRPr>
            </a:pPr>
            <a:r>
              <a:t>Pirmą post-EENĮ produktą rinktis iš use case, kurie remiasi EENĮ reusable lentomis ir papildomomis lentomis iš jau prijungtų sistemų</a:t>
            </a:r>
          </a:p>
        </p:txBody>
      </p:sp>
      <p:sp>
        <p:nvSpPr>
          <p:cNvPr id="9" name="Rounded Rectangle 8"/>
          <p:cNvSpPr/>
          <p:nvPr/>
        </p:nvSpPr>
        <p:spPr>
          <a:xfrm>
            <a:off x="658368" y="3063240"/>
            <a:ext cx="6126480" cy="1005840"/>
          </a:xfrm>
          <a:prstGeom prst="roundRect">
            <a:avLst/>
          </a:prstGeom>
          <a:solidFill>
            <a:srgbClr val="E8F4F6"/>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273552"/>
            <a:ext cx="5760720" cy="640080"/>
          </a:xfrm>
          <a:prstGeom prst="rect">
            <a:avLst/>
          </a:prstGeom>
          <a:noFill/>
        </p:spPr>
        <p:txBody>
          <a:bodyPr wrap="none">
            <a:spAutoFit/>
          </a:bodyPr>
          <a:lstStyle/>
          <a:p>
            <a:pPr>
              <a:defRPr sz="1100" b="1">
                <a:solidFill>
                  <a:srgbClr val="0B2B54"/>
                </a:solidFill>
              </a:defRPr>
            </a:pPr>
            <a:r>
              <a:t>Pirmas logiškas įrodymo use case: Generacijų žemėlapis MVP</a:t>
            </a:r>
          </a:p>
          <a:p>
            <a:pPr>
              <a:defRPr sz="1100" b="0">
                <a:solidFill>
                  <a:srgbClr val="0B2B54"/>
                </a:solidFill>
              </a:defRPr>
            </a:pPr>
            <a:r>
              <a:t>Reuse: ~300 kEUR, 4–6 mėn. | Nuo nulio: ~520 kEUR, 7–9 mėn.</a:t>
            </a:r>
          </a:p>
        </p:txBody>
      </p:sp>
      <p:sp>
        <p:nvSpPr>
          <p:cNvPr id="11" name="TextBox 10"/>
          <p:cNvSpPr txBox="1"/>
          <p:nvPr/>
        </p:nvSpPr>
        <p:spPr>
          <a:xfrm>
            <a:off x="658368" y="4206240"/>
            <a:ext cx="6217920" cy="1325880"/>
          </a:xfrm>
          <a:prstGeom prst="rect">
            <a:avLst/>
          </a:prstGeom>
          <a:noFill/>
        </p:spPr>
        <p:txBody>
          <a:bodyPr wrap="none">
            <a:spAutoFit/>
          </a:bodyPr>
          <a:lstStyle/>
          <a:p>
            <a:pPr>
              <a:defRPr sz="1100" b="0">
                <a:solidFill>
                  <a:srgbClr val="212529"/>
                </a:solidFill>
              </a:defRPr>
            </a:pPr>
            <a:r>
              <a:t>Ką reikia patvirtinti dabar</a:t>
            </a:r>
          </a:p>
          <a:p>
            <a:pPr>
              <a:defRPr sz="1100" b="0">
                <a:solidFill>
                  <a:srgbClr val="212529"/>
                </a:solidFill>
              </a:defRPr>
            </a:pPr>
            <a:r>
              <a:t>1) 2027–2030 tikslinį scenarijų</a:t>
            </a:r>
          </a:p>
          <a:p>
            <a:pPr>
              <a:defRPr sz="1100" b="0">
                <a:solidFill>
                  <a:srgbClr val="212529"/>
                </a:solidFill>
              </a:defRPr>
            </a:pPr>
            <a:r>
              <a:t>2) 2027 m. biudžetą: GPC bronze + DG/DQ ir ESO DIK silver + DG/DQ</a:t>
            </a:r>
          </a:p>
          <a:p>
            <a:pPr>
              <a:defRPr sz="1100" b="0">
                <a:solidFill>
                  <a:srgbClr val="212529"/>
                </a:solidFill>
              </a:defRPr>
            </a:pPr>
            <a:r>
              <a:t>3) Pirmą reuse pagrindu statomą produktą po EENĮ</a:t>
            </a:r>
          </a:p>
          <a:p>
            <a:pPr>
              <a:defRPr sz="1100" b="0">
                <a:solidFill>
                  <a:srgbClr val="212529"/>
                </a:solidFill>
              </a:defRPr>
            </a:pPr>
            <a:r>
              <a:t>4) Kritinių TEVIS/GIS/Billing lentų sąrašą</a:t>
            </a:r>
          </a:p>
          <a:p>
            <a:pPr>
              <a:defRPr sz="1100" b="0">
                <a:solidFill>
                  <a:srgbClr val="212529"/>
                </a:solidFill>
              </a:defRPr>
            </a:pPr>
            <a:r>
              <a:t>5) DG / DQ / ownership modelį reusable TDM sluoksniui</a:t>
            </a:r>
          </a:p>
        </p:txBody>
      </p:sp>
      <p:sp>
        <p:nvSpPr>
          <p:cNvPr id="12" name="Rounded Rectangle 11"/>
          <p:cNvSpPr/>
          <p:nvPr/>
        </p:nvSpPr>
        <p:spPr>
          <a:xfrm>
            <a:off x="7269480" y="960120"/>
            <a:ext cx="4526280" cy="4663440"/>
          </a:xfrm>
          <a:prstGeom prst="roundRect">
            <a:avLst/>
          </a:prstGeom>
          <a:solidFill>
            <a:srgbClr val="ECF7FA"/>
          </a:solidFill>
          <a:ln w="15240">
            <a:solidFill>
              <a:srgbClr val="007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143000"/>
            <a:ext cx="4114800" cy="320040"/>
          </a:xfrm>
          <a:prstGeom prst="rect">
            <a:avLst/>
          </a:prstGeom>
          <a:noFill/>
        </p:spPr>
        <p:txBody>
          <a:bodyPr wrap="none">
            <a:spAutoFit/>
          </a:bodyPr>
          <a:lstStyle/>
          <a:p>
            <a:pPr>
              <a:defRPr sz="1600" b="1">
                <a:solidFill>
                  <a:srgbClr val="0B2B54"/>
                </a:solidFill>
              </a:defRPr>
            </a:pPr>
            <a:r>
              <a:t>Decision now</a:t>
            </a:r>
          </a:p>
        </p:txBody>
      </p:sp>
      <p:sp>
        <p:nvSpPr>
          <p:cNvPr id="14" name="TextBox 13"/>
          <p:cNvSpPr txBox="1"/>
          <p:nvPr/>
        </p:nvSpPr>
        <p:spPr>
          <a:xfrm>
            <a:off x="7452360" y="1554480"/>
            <a:ext cx="4114800" cy="3291840"/>
          </a:xfrm>
          <a:prstGeom prst="rect">
            <a:avLst/>
          </a:prstGeom>
          <a:noFill/>
        </p:spPr>
        <p:txBody>
          <a:bodyPr wrap="none">
            <a:spAutoFit/>
          </a:bodyPr>
          <a:lstStyle/>
          <a:p>
            <a:pPr>
              <a:defRPr sz="1200" b="0">
                <a:solidFill>
                  <a:srgbClr val="212529"/>
                </a:solidFill>
              </a:defRPr>
            </a:pPr>
            <a:r>
              <a:t>EENĮ jau parodė, kad TDM pagrindu galima sukurti vertę.</a:t>
            </a:r>
          </a:p>
          <a:p>
            <a:pPr>
              <a:defRPr sz="1200" b="0">
                <a:solidFill>
                  <a:srgbClr val="212529"/>
                </a:solidFill>
              </a:defRPr>
            </a:pPr>
          </a:p>
          <a:p>
            <a:pPr>
              <a:defRPr sz="1200" b="0">
                <a:solidFill>
                  <a:srgbClr val="212529"/>
                </a:solidFill>
              </a:defRPr>
            </a:pPr>
            <a:r>
              <a:t>Dabar sprendžiame, ar šį įdirbį skalinsime į reusable organizacinį asset’ą, ar vėl mokėsime už tą pačią duomenų problemą projektas po projekto.</a:t>
            </a:r>
          </a:p>
          <a:p>
            <a:pPr>
              <a:defRPr sz="1200" b="0">
                <a:solidFill>
                  <a:srgbClr val="212529"/>
                </a:solidFill>
              </a:defRPr>
            </a:pPr>
          </a:p>
          <a:p>
            <a:pPr>
              <a:defRPr sz="1200" b="0">
                <a:solidFill>
                  <a:srgbClr val="212529"/>
                </a:solidFill>
              </a:defRPr>
            </a:pPr>
            <a:r>
              <a:t>Rekomendacija: finansuoti 2 scenarijų kaip bazinį 2027–2030 variantą.</a:t>
            </a:r>
          </a:p>
        </p:txBody>
      </p:sp>
      <p:sp>
        <p:nvSpPr>
          <p:cNvPr id="15" name="TextBox 14"/>
          <p:cNvSpPr txBox="1"/>
          <p:nvPr/>
        </p:nvSpPr>
        <p:spPr>
          <a:xfrm>
            <a:off x="411480" y="5742432"/>
            <a:ext cx="11384280" cy="914400"/>
          </a:xfrm>
          <a:prstGeom prst="rect">
            <a:avLst/>
          </a:prstGeom>
          <a:noFill/>
        </p:spPr>
        <p:txBody>
          <a:bodyPr wrap="none">
            <a:spAutoFit/>
          </a:bodyPr>
          <a:lstStyle/>
          <a:p>
            <a:pPr>
              <a:defRPr sz="800" b="0">
                <a:solidFill>
                  <a:srgbClr val="5A626C"/>
                </a:solidFill>
              </a:defRPr>
            </a:pPr>
            <a:r>
              <a:t>Skaičiavimo prielaidos: scenarijų biudžetai pateikti kaip papildoma investicija 2027–2030 m. po EENĮ anchor etapo; EENĮ benchmarkas naudotas kaip realistinis first-of-type orientyras; planavimo tarifas 70 EUR/val.; naudos suskirstytos į konservatyviai monetizuotas platformines/netiesiogines ir indikatyvias su hipotetiniais produktais susijusias tiesiogines; hipotetiniai produktai nėra šiuo metu suplanuoti ar patvirtinti.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